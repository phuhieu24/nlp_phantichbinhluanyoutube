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Thưa thầy và các bạn, nhóm em xin trình bày đồ án phân tích bình luận YouTube tiếng Việt. Hệ thống nhận bình luận dưới một video và trả về hai thứ: người xem đang bàn chủ đề gì, và họ khen hay chê. Bài nói khoảng 10 phút theo đúng năm bước của môn, sau đó nhóm em chạy ứng dụng trực tiếp 3 phút. Nếu chỉ nhớ một câu, xin thầy nhớ câu này: mọi con số trong bài đều đọc lại được từ thư mục results của mã nguồn.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xuất phát từ nhu cầu thật: một video có vài nghìn bình luận, không ai đọc nổi từng dòng. Nhóm em muốn trả lời hai câu: người xem đang nói về cái gì, và họ thấy thế nào. Dữ liệu này khó hơn văn bản báo chí. Một phần ba bình luận có emoji. Trung vị chỉ 52 ký tự, tức là một câu ngắn, ít ngữ cảnh. Và rất nhiều câu kiểu "hay mà tiếc", vừa khen vừa chê. Thêm cái khó riêng của tiếng Việt: từ ghép không có ranh giới, nên tách từ sai thì từ khóa chủ đề sai và đặc trưng phân loại cũng sai.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xếp đồ án theo đúng quy trình năm bước của bài 5 trong môn: thu thập và phân tích dữ liệu, tiền xử lý, biểu diễn, thuật toán, rồi đánh giá và phân tích lỗi. Sơ đồ này cho thấy mỗi bước nằm ở module nào trong mã nguồn. Điểm khác so với bài phân loại thuần: từ bước biểu diễn, pipeline tách làm hai nhánh. Nhánh cảm xúc dùng TF-IDF và LinearSVC. Nhánh chủ đề dùng vector câu và BERTopic. Hai nhánh gặp lại nhau ở ứng dụng, khi cảm xúc được hiển thị theo từng chủ đề. Phần còn lại của bài đi lần lượt qua năm bước này.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Tập dữ liệu có 20.000 bình luận, hai cột: văn bản và nhãn. Đây là hai cột text và label của gói ATSH-NLP-20k, trích từ dự án ATSH-ABSA của Phạm Xuân Vĩnh Hà ở UIT; nhóm em chỉ dùng cho học tập theo đúng điều kiện của tác giả. Ba lớp lệch nhau: tích cực gần một nửa, trung tính chỉ 17%. Con số 17% này sẽ quay lại ở phần kết quả, vì trung tính là lớp yếu nhất. Ba điều nhóm em nói thẳng. Thứ nhất, mọi bình luận đều về một chương trình, nên mô hình học cả tên thí sinh làm tín hiệu. Thứ hai, tỉ lệ ba lớp là do tác giả lấy mẫu lại: dữ liệu gốc khoảng 88% tích cực, tác giả giữ hết trung tính, lấy đúng 7.000 tiêu cực rồi bù tích cực cho đủ 20.000; vì vậy số 7.000 tròn, và tỉ lệ này không phải tỉ lệ thật trên YouTube. Thứ ba, nhãn là nhãn silver do mô hình ngôn ngữ lớn gán theo từng đối tượng và khía cạnh rồi gộp lại, chưa có người kiểm từng dòng; chính tác giả ghi trung tính là lớp nhiễu nhất. Phần đọc tay 150 bình luận ở cuối bài cũng là để kiểm chất lượng nhãn.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tiền xử lý có ba quyết định. Một, tách từ trước rồi mới hạ chữ thường. Nhóm em kiểm tra trực tiếp: đưa "Đông Hùng hát" vào pyvi thì được tên riêng một token; đưa bản đã hạ chữ thường thì tên bị tách làm hai. Phiên bản đầu của đồ án làm ngược thứ tự, nên tên riêng chưa bao giờ được ghép. Hai, từ điển teencode. Bản cũ dịch "vcl" thành "rất", "ok" thành "tốt". Nghe tiện, nhưng thực ra là mình gán sắc thái cho dữ liệu trước khi mô hình được học. Nhóm em bỏ hết, chỉ giữ sửa chính tả, để bộ phân loại tự học từ 20.000 mẫu. Ba, từ dừng. Danh sách có chữ "không". Nếu loại từ dừng khỏi bộ phân loại cảm xúc thì mất luôn tín hiệu phủ định, nên danh sách này chỉ đi vào bước chọn từ khóa chủ đề.</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5 của môn có cặp thí nghiệm có tách từ và không tách từ để xem tiền xử lý đổi kết quả thế nào. Nhóm em làm cặp thí nghiệm tương tự cho hai phiên bản tiền xử lý của mình. Kết quả là bảng này. Mời thầy nhìn hai dòng đầu: 77,58% và 77,58%, giống nhau đến hai chữ số. Nói thẳng: với bộ phân loại cảm xúc, đổi tiền xử lý không tăng điểm. Nhóm em vẫn giữ bản mới, nhưng vì lý do khác: từ khóa chủ đề có tên riêng đúng, và từ điển không còn tự gán cảm xúc. Điểm tăng thật sự ở đồ án đến từ chỗ khác, em sẽ nói ở phần mô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bài toán con cần hai cách biểu diễn. Với cảm xúc, nhóm em dùng TF-IDF có bigram. Nếu chỉ dùng unigram, chữ "hay" sẽ kéo cả "không hay" lẫn "hay nhưng" về lớp tích cực. Bigram giữ được cặp phủ định. Với chủ đề, mỗi bình luận thành một vector 768 chiều từ một mô hình Sentence-BERT tiếng Việt. Thẻ mô hình không ghi mô hình gốc, nhóm em đọc file config trên Hugging Face và suy ra nó tinh chỉnh từ PhoBERT-base. Điều đó có hệ quả thực tế: PhoBERT học trên văn bản đã tách từ, nên bước pyvi phía trước vừa phục vụ từ khóa, vừa là định dạng đầu vào mà mô hình nhúng mong đợi.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xem con số, em nói cách chấm. Dữ liệu chia phân tầng 80 trên 20 với hạt giống 42. Mọi việc chọn lựa, so bốn mô hình nền và dò tham số C, chỉ chạy bằng cross-validation năm phần trên 15.997 dòng huấn luyện. Tập kiểm tra 4.000 dòng để dành, chấm đúng một lần với mô hình cuối. Sau đó nhóm em chia lại với năm hạt giống khác để xem con số có ổn định không. Quy trình này là lý do nhóm em tin các số ở hai slide sau.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so bốn mô hình nền bằng cross-validation, chỉ trên tập huấn luyện, tập kiểm tra để dành. Dòng đầu là mốc sàn: đoán toàn lớp đa số được 47,95% nhưng macro-F1 chỉ 0,22, nên nhóm em không dùng accuracy làm chỉ tiêu chính. Hai mô hình tuyến tính vượt Naive Bayes rõ. Rồi nhóm em dò C cho LinearSVC trên bốn giá trị: từ C bằng 1 xuống 0,3, macro-F1 tăng từ 0,7054 lên 0,7180. Đây là phần tăng đo được của đồ án, không phải tiền xử lý. Còn LinearSVC so với hồi quy logistic: chênh một phần nghìn, nhỏ hơn nhiễu giữa các fold. Nhóm em giữ LinearSVC theo thiết kế ban đầu, không phải vì nó thắng.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trên tập kiểm tra, chấm đúng một lần với mô hình đã chọn. Tỉ lệ dự đoán đúng 76,62%, macro-F1 0,7161. Chạy lại với năm hạt giống chia tập khác thì được 77,58%, nên con số 76,62% là ước lượng thận trọng. Mời thầy nhìn hàng giữa của ma trận nhầm lẫn bên phải: lớp trung tính chỉ nhận ra 54%, còn lại chia đều về hai phía, 203 sang tiêu cực, 108 sang tích cực. Hai lớp tiêu cực và tích cực hiếm khi nhầm sang nhau, chỉ 133 và 158 trên gần 3.300 mẫu. Nói gọn: mô hình phân biệt khen với chê tốt, nhưng không chắc đâu là "không khen không chê".</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nhánh chủ đề. BERTopic gồm UMAP giảm 768 chiều xuống 5, HDBSCAN gom cụm theo mật độ, rồi c-TF-IDF chọn từ khóa. Tham số mặc định không dùng được cho bình luận cùng một chương trình: 49% bình luận bị xếp vào nhiễu. Đổi min_samples lên 5 thì ngược lại, 91% dồn vào một cụm, không có nhiễu, nhưng vô nghĩa. Cấu hình 15 và 1 nằm giữa: 26 chủ đề, một phần ba là nhiễu, và các bình luận nhiễu vẫn được giữ trong bảng dưới tên nhóm -1, không bị loại. Một phát hiện nhóm em thấy đáng nói: tắt từ dừng thì số chủ đề và tỉ lệ nhiễu không đổi một dòng nào, vì từ dừng chỉ đi vào bước chọn từ khóa, sau khi HDBSCAN đã gom xong. Xin nhấn mạnh là bảng này chạy trên bình luận trong tập dữ liệu; nó có chuyển sang một video thật hay không, nhóm em chưa đo.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pipeline đóng thành một ứng dụng Streamlit. Bây giờ nhóm em chạy trực tiếp khoảng 3 phút. (mở ứng dụng, ở thanh bên chọn Dữ liệu mẫu, 1.000 dòng, hoặc Tệp CSV nếu nhóm đã cào sẵn bình luận của một video; bấm Bắt đầu phân tích) Trong lúc chạy em nói qua sáu bước của ứng dụng: lấy dữ liệu, làm sạch, nhúng câu, gom cụm, phân loại, tóm tắt tùy chọn. (khi xong, mở tab Tổng quan) Đây là số chủ đề, tỉ lệ nhiễu và tỉ lệ tích cực. (mở tab Chủ đề, chỉ vào một cụm) Mỗi chủ đề có từ khóa và bình luận tiêu biểu; bản đồ khoảng cách cho thấy cụm nào gần nhau. (mở tab Cảm xúc) Cảm xúc theo từng chủ đề: chủ đề nào bị chê nhiều nhất. (mở tab Dữ liệu, lọc một từ khóa) Bảng có lọc theo chủ đề, cảm xúc, từ khóa và tải CSV. Tab Mô hình chỉ đọc lại thẻ mô hình và các bảng em vừa trình bày, em không mở để tiết kiệm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không dừng ở ma trận nhầm lẫn. Nhóm xuất toàn bộ 935 bình luận mà mô hình đoán sai, lấy mẫu phân tầng 150 dòng rồi đọc tay từng dòng, mỗi dòng xếp vào một hiện tượng. Hai nhóm lớn nhất chiếm gần một nửa và cùng nói một điều: TF-IDF thấy từ nhưng không thấy thái độ hướng về ai. "Tiếc cho team của Captain" mang từ buồn nhưng là đồng cảm, không phải chê. Nhóm thứ ba là vừa khen vừa chê, và đây là nhóm lớn nhất của riêng lớp trung tính: một nhãn cho cả câu thì buộc phải chọn một bên, nên lớp trung tính khó ngay từ định nghĩa. Bảy dòng là nhãn gốc mà người đọc không đồng ý; con số này đo trên mẫu lỗi nên không suy ra được tỉ lệ nhãn sai của cả bộ dữ liệu. Về đặc trưng, mô hình học được rằng ai nhắc quảng cáo thì thường chê, còn nhắc tên hai thí sinh thì thường khen: đúng trong chương trình này, không chuyển được sang video khác.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điều nhóm em rút ra. Một, pipeline đi đủ năm bước và ai cũng chạy lại được: một lệnh huấn luyện 12 giây sinh lại toàn bộ kết quả. Hai, macro-F1 dừng ở 0,72, và cái kéo nó xuống là lớp trung tính; TF-IDF tuyến tính không đủ để hiểu "hay mà tiếc" là không khen không chê. Ba, ở phần chủ đề, thứ đáng dò là tham số gom cụm, không phải danh sách từ dừng. Ba việc tiếp theo xếp theo chi phí tăng dần: giữ emoji, thử vector câu cho phân loại, và đo coherence. Câu nhóm em muốn để lại: số đẹp thì dễ, số đọc lại được mới khó, và nhóm em chọn cái khó. Nhóm em xin cảm ơn thầy và các bạn.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xin dừng ở đây và sẵn sàng trả lời câu hỏi. (nếu được hỏi về c-TF-IDF hoặc về BERTopic với tiếng Việt, chuyển sang slide phụ lục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sách tài liệu tham khảo, trùng với mục 10 của báo cáo. Slide bài giảng của môn là nguồn cho pipeline năm bước, cách tách từ và cách báo kết quả theo lớp; các bài báo là nguồn cho BERTopic, UMAP, HDBSCAN và PhoBERT; dòng cuối là câu trích dẫn mà tác giả bộ dữ liệu yêu cầu.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số cho c-TF-IDF. BERTopic nối mọi bình luận của một cụm thành một văn bản rồi chấm từng từ: tần suất trong cụm nhân với logarit của một cộng A chia f. Từ "hát" chỉ có ở cụm 1 nên điểm 5,88, đứng đầu. Từ "hay" rải khắp ba cụm, thành phần logarit chỉ 0,693, nên dù xuất hiện nhiều vẫn đứng sau. Nhưng hư từ như "là", "của" thì tần suất thô lớn đến mức vẫn chiếm đầu bảng, nên danh sách từ dừng ở bước này vẫn cần.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bài học kỹ thuật nhóm em xác minh trong mã nguồn thư viện. BERTopic khởi tạo với ngôn ngữ mặc định là tiếng Anh, và nếu mình không truyền mô hình nhúng, nó âm thầm xóa hết dấu tiếng Việt trước khi tính từ khóa. Chữ "không" thành "khng". Nhóm em vá bằng cách luôn truyền mô hình nhúng và viết một kiểm thử canh chỗ đó. Phần tái lập: một lệnh huấn luyện, ba script thực nghiệm, và pytest. Không lệnh nào cần API key hay mạng, trừ lần đầu tải mô hình nhúng về cache.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384048" cy="6858000"/>
          </a:xfrm>
          <a:prstGeom prst="rect">
            <a:avLst/>
          </a:prstGeom>
          <a:solidFill>
            <a:srgbClr val="164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1783080"/>
            <a:ext cx="9692640" cy="1737360"/>
          </a:xfrm>
          <a:prstGeom prst="rect">
            <a:avLst/>
          </a:prstGeom>
          <a:noFill/>
        </p:spPr>
        <p:txBody>
          <a:bodyPr wrap="square" lIns="0" rIns="0" tIns="0" bIns="0">
            <a:spAutoFit/>
          </a:bodyPr>
          <a:lstStyle/>
          <a:p>
            <a:pPr>
              <a:lnSpc>
                <a:spcPct val="102000"/>
              </a:lnSpc>
            </a:pPr>
            <a:r>
              <a:rPr sz="4000" b="1" i="0">
                <a:solidFill>
                  <a:srgbClr val="F2F6FB"/>
                </a:solidFill>
                <a:latin typeface="Calibri Light"/>
              </a:rPr>
              <a:t>Phân tích chủ đề và cảm xúc
bình luận YouTube tiếng Việt</a:t>
            </a:r>
          </a:p>
        </p:txBody>
      </p:sp>
      <p:sp>
        <p:nvSpPr>
          <p:cNvPr id="4" name="Rectangle 3"/>
          <p:cNvSpPr/>
          <p:nvPr/>
        </p:nvSpPr>
        <p:spPr>
          <a:xfrm>
            <a:off x="1234440" y="3639312"/>
            <a:ext cx="105156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3913632"/>
            <a:ext cx="9692640" cy="365760"/>
          </a:xfrm>
          <a:prstGeom prst="rect">
            <a:avLst/>
          </a:prstGeom>
          <a:noFill/>
        </p:spPr>
        <p:txBody>
          <a:bodyPr wrap="square" lIns="0" rIns="0" tIns="0" bIns="0">
            <a:spAutoFit/>
          </a:bodyPr>
          <a:lstStyle/>
          <a:p>
            <a:r>
              <a:rPr sz="1700" b="0" i="0">
                <a:solidFill>
                  <a:srgbClr val="5EEAD4"/>
                </a:solidFill>
                <a:latin typeface="Calibri"/>
              </a:rPr>
              <a:t>Đồ án môn Xử lý ngôn ngữ tự nhiên</a:t>
            </a:r>
          </a:p>
        </p:txBody>
      </p:sp>
      <p:sp>
        <p:nvSpPr>
          <p:cNvPr id="6" name="TextBox 5"/>
          <p:cNvSpPr txBox="1"/>
          <p:nvPr/>
        </p:nvSpPr>
        <p:spPr>
          <a:xfrm>
            <a:off x="1234440" y="4617720"/>
            <a:ext cx="4937760" cy="1737360"/>
          </a:xfrm>
          <a:prstGeom prst="rect">
            <a:avLst/>
          </a:prstGeom>
          <a:noFill/>
        </p:spPr>
        <p:txBody>
          <a:bodyPr wrap="square" lIns="0" rIns="0" tIns="0" bIns="0">
            <a:spAutoFit/>
          </a:bodyPr>
          <a:lstStyle/>
          <a:p>
            <a:pPr>
              <a:spcAft>
                <a:spcPts val="400"/>
              </a:spcAft>
            </a:pPr>
            <a:r>
              <a:rPr sz="1150" b="0" i="0">
                <a:solidFill>
                  <a:srgbClr val="93A6C0"/>
                </a:solidFill>
                <a:latin typeface="Calibri"/>
              </a:rPr>
              <a:t>Lê Phú Hiếu · 26410038 · LT.K2026.1.TTNT</a:t>
            </a:r>
          </a:p>
          <a:p>
            <a:pPr>
              <a:spcAft>
                <a:spcPts val="400"/>
              </a:spcAft>
            </a:pPr>
            <a:r>
              <a:rPr sz="1150" b="0" i="0">
                <a:solidFill>
                  <a:srgbClr val="93A6C0"/>
                </a:solidFill>
                <a:latin typeface="Calibri"/>
              </a:rPr>
              <a:t>Nguyễn Thanh Duy · 26410030 · LT.K2026.1.TTNT</a:t>
            </a:r>
          </a:p>
          <a:p>
            <a:pPr>
              <a:spcAft>
                <a:spcPts val="400"/>
              </a:spcAft>
            </a:pPr>
            <a:r>
              <a:rPr sz="1150" b="0" i="0">
                <a:solidFill>
                  <a:srgbClr val="93A6C0"/>
                </a:solidFill>
                <a:latin typeface="Calibri"/>
              </a:rPr>
              <a:t>Nguyễn Thanh Phong · 26410090 · LT.K2026.1.TTNT</a:t>
            </a:r>
          </a:p>
          <a:p>
            <a:pPr>
              <a:spcAft>
                <a:spcPts val="400"/>
              </a:spcAft>
            </a:pPr>
            <a:r>
              <a:rPr sz="1150" b="0" i="0">
                <a:solidFill>
                  <a:srgbClr val="93A6C0"/>
                </a:solidFill>
                <a:latin typeface="Calibri"/>
              </a:rPr>
              <a:t>Nguyễn Thị Mai Thi · 26410117 · LT.K2026.1.TTNT</a:t>
            </a:r>
          </a:p>
        </p:txBody>
      </p:sp>
      <p:sp>
        <p:nvSpPr>
          <p:cNvPr id="7" name="TextBox 6"/>
          <p:cNvSpPr txBox="1"/>
          <p:nvPr/>
        </p:nvSpPr>
        <p:spPr>
          <a:xfrm>
            <a:off x="6355080" y="4617720"/>
            <a:ext cx="4937760" cy="1737360"/>
          </a:xfrm>
          <a:prstGeom prst="rect">
            <a:avLst/>
          </a:prstGeom>
          <a:noFill/>
        </p:spPr>
        <p:txBody>
          <a:bodyPr wrap="square" lIns="0" rIns="0" tIns="0" bIns="0">
            <a:spAutoFit/>
          </a:bodyPr>
          <a:lstStyle/>
          <a:p>
            <a:pPr>
              <a:spcAft>
                <a:spcPts val="400"/>
              </a:spcAft>
            </a:pPr>
            <a:r>
              <a:rPr sz="1150" b="0" i="0">
                <a:solidFill>
                  <a:srgbClr val="93A6C0"/>
                </a:solidFill>
                <a:latin typeface="Calibri"/>
              </a:rPr>
              <a:t>Hồ Viết Trịnh · 26410140 · LT.K2026.1.TTNT</a:t>
            </a:r>
          </a:p>
          <a:p>
            <a:pPr>
              <a:spcAft>
                <a:spcPts val="400"/>
              </a:spcAft>
            </a:pPr>
            <a:r>
              <a:rPr sz="1150" b="0" i="0">
                <a:solidFill>
                  <a:srgbClr val="93A6C0"/>
                </a:solidFill>
                <a:latin typeface="Calibri"/>
              </a:rPr>
              <a:t>Nguyễn Ngọc Bích · 25730012 · CN1.K2025.1.TTNT</a:t>
            </a:r>
          </a:p>
          <a:p>
            <a:pPr>
              <a:spcAft>
                <a:spcPts val="400"/>
              </a:spcAft>
            </a:pPr>
            <a:r>
              <a:rPr sz="1150" b="0" i="0">
                <a:solidFill>
                  <a:srgbClr val="93A6C0"/>
                </a:solidFill>
                <a:latin typeface="Calibri"/>
              </a:rPr>
              <a:t>Nguyễn Anh Tài · 25730063 · CN1.K2025.1.TTNT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BÀI TOÁN</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Hàng nghìn bình luận, hai câu hỏi</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2</a:t>
            </a:r>
          </a:p>
        </p:txBody>
      </p:sp>
      <p:sp>
        <p:nvSpPr>
          <p:cNvPr id="6" name="TextBox 5"/>
          <p:cNvSpPr txBox="1"/>
          <p:nvPr/>
        </p:nvSpPr>
        <p:spPr>
          <a:xfrm>
            <a:off x="731520" y="1810512"/>
            <a:ext cx="10728655" cy="4407407"/>
          </a:xfrm>
          <a:prstGeom prst="rect">
            <a:avLst/>
          </a:prstGeom>
          <a:noFill/>
        </p:spPr>
        <p:txBody>
          <a:bodyPr wrap="square" lIns="0" rIns="0" tIns="0" bIns="0">
            <a:spAutoFit/>
          </a:bodyPr>
          <a:lstStyle/>
          <a:p>
            <a:pPr marL="219456" indent="-219456">
              <a:lnSpc>
                <a:spcPct val="118000"/>
              </a:lnSpc>
              <a:spcAft>
                <a:spcPts val="2200"/>
              </a:spcAft>
              <a:buClr>
                <a:srgbClr val="2DD4BF"/>
              </a:buClr>
              <a:buFont typeface="Arial"/>
              <a:buChar char="•"/>
            </a:pPr>
            <a:r>
              <a:rPr sz="1800" b="1" i="0">
                <a:solidFill>
                  <a:srgbClr val="F2F6FB"/>
                </a:solidFill>
                <a:latin typeface="Calibri"/>
              </a:rPr>
              <a:t>Đầu vào: </a:t>
            </a:r>
            <a:r>
              <a:rPr sz="1800" b="0" i="0">
                <a:solidFill>
                  <a:srgbClr val="C5D2E4"/>
                </a:solidFill>
                <a:latin typeface="Calibri"/>
              </a:rPr>
              <a:t>toàn bộ bình luận dưới một video YouTube tiếng Việt</a:t>
            </a:r>
          </a:p>
          <a:p>
            <a:pPr marL="219456" indent="-219456">
              <a:lnSpc>
                <a:spcPct val="118000"/>
              </a:lnSpc>
              <a:spcAft>
                <a:spcPts val="2200"/>
              </a:spcAft>
              <a:buClr>
                <a:srgbClr val="2DD4BF"/>
              </a:buClr>
              <a:buFont typeface="Arial"/>
              <a:buChar char="•"/>
            </a:pPr>
            <a:r>
              <a:rPr sz="1800" b="1" i="0">
                <a:solidFill>
                  <a:srgbClr val="F2F6FB"/>
                </a:solidFill>
                <a:latin typeface="Calibri"/>
              </a:rPr>
              <a:t>Đầu ra 1: </a:t>
            </a:r>
            <a:r>
              <a:rPr sz="1800" b="0" i="0">
                <a:solidFill>
                  <a:srgbClr val="C5D2E4"/>
                </a:solidFill>
                <a:latin typeface="Calibri"/>
              </a:rPr>
              <a:t>các chủ đề người xem bàn tới, mỗi chủ đề là một nhóm từ khóa và vài bình luận tiêu biểu</a:t>
            </a:r>
          </a:p>
          <a:p>
            <a:pPr marL="219456" indent="-219456">
              <a:lnSpc>
                <a:spcPct val="118000"/>
              </a:lnSpc>
              <a:spcAft>
                <a:spcPts val="2200"/>
              </a:spcAft>
              <a:buClr>
                <a:srgbClr val="2DD4BF"/>
              </a:buClr>
              <a:buFont typeface="Arial"/>
              <a:buChar char="•"/>
            </a:pPr>
            <a:r>
              <a:rPr sz="1800" b="1" i="0">
                <a:solidFill>
                  <a:srgbClr val="F2F6FB"/>
                </a:solidFill>
                <a:latin typeface="Calibri"/>
              </a:rPr>
              <a:t>Đầu ra 2: </a:t>
            </a:r>
            <a:r>
              <a:rPr sz="1800" b="0" i="0">
                <a:solidFill>
                  <a:srgbClr val="C5D2E4"/>
                </a:solidFill>
                <a:latin typeface="Calibri"/>
              </a:rPr>
              <a:t>phân bố cảm xúc theo ba lớp tiêu cực, trung tính, tích cực</a:t>
            </a:r>
          </a:p>
          <a:p>
            <a:pPr marL="219456" indent="-219456">
              <a:lnSpc>
                <a:spcPct val="118000"/>
              </a:lnSpc>
              <a:spcAft>
                <a:spcPts val="2200"/>
              </a:spcAft>
              <a:buClr>
                <a:srgbClr val="2DD4BF"/>
              </a:buClr>
              <a:buFont typeface="Arial"/>
              <a:buChar char="•"/>
            </a:pPr>
            <a:r>
              <a:rPr sz="1800" b="1" i="0">
                <a:solidFill>
                  <a:srgbClr val="F2F6FB"/>
                </a:solidFill>
                <a:latin typeface="Calibri"/>
              </a:rPr>
              <a:t>Vì sao khó: </a:t>
            </a:r>
            <a:r>
              <a:rPr sz="1800" b="0" i="0">
                <a:solidFill>
                  <a:srgbClr val="C5D2E4"/>
                </a:solidFill>
                <a:latin typeface="Calibri"/>
              </a:rPr>
              <a:t>teencode (ko, đc, j), không dấu, emoji trong 34.5% bình luận, câu ngắn (trung vị 52 ký tự), châm biếm và vừa khen vừa chê</a:t>
            </a:r>
          </a:p>
          <a:p>
            <a:pPr marL="219456" indent="-219456">
              <a:lnSpc>
                <a:spcPct val="118000"/>
              </a:lnSpc>
              <a:spcAft>
                <a:spcPts val="2200"/>
              </a:spcAft>
              <a:buClr>
                <a:srgbClr val="2DD4BF"/>
              </a:buClr>
              <a:buFont typeface="Arial"/>
              <a:buChar char="•"/>
            </a:pPr>
            <a:r>
              <a:rPr sz="1800" b="0" i="0">
                <a:solidFill>
                  <a:srgbClr val="C5D2E4"/>
                </a:solidFill>
                <a:latin typeface="Calibri"/>
              </a:rPr>
              <a:t>Tiếng Việt không có khoảng trắng giữa các từ, nên tách từ quyết định chất lượng cả hai đầu 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pipeline_dark.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1 · DỮ LIỆU</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20.000 bình luận có nhãn về một chương trình</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4</a:t>
            </a:r>
          </a:p>
        </p:txBody>
      </p:sp>
      <p:graphicFrame>
        <p:nvGraphicFramePr>
          <p:cNvPr id="6" name="Table 5"/>
          <p:cNvGraphicFramePr>
            <a:graphicFrameLocks noGrp="1"/>
          </p:cNvGraphicFramePr>
          <p:nvPr/>
        </p:nvGraphicFramePr>
        <p:xfrm>
          <a:off x="731520" y="1874519"/>
          <a:ext cx="5029200" cy="2779776"/>
        </p:xfrm>
        <a:graphic>
          <a:graphicData uri="http://schemas.openxmlformats.org/drawingml/2006/table">
            <a:tbl>
              <a:tblPr>
                <a:tableStyleId>{2D5ABB26-0587-4C30-8999-92F81FD0307C}</a:tableStyleId>
              </a:tblPr>
              <a:tblGrid>
                <a:gridCol w="2286000"/>
                <a:gridCol w="1371600"/>
                <a:gridCol w="1371600"/>
              </a:tblGrid>
              <a:tr h="585216">
                <a:tc>
                  <a:txBody>
                    <a:bodyPr wrap="square"/>
                    <a:lstStyle/>
                    <a:p>
                      <a:pPr algn="l"/>
                      <a:r>
                        <a:rPr sz="1500" b="1" i="0">
                          <a:solidFill>
                            <a:srgbClr val="5EEAD4"/>
                          </a:solidFill>
                          <a:latin typeface="Calibri"/>
                        </a:rPr>
                        <a:t>Nhãn</a:t>
                      </a:r>
                    </a:p>
                  </a:txBody>
                  <a:tcPr anchor="ctr" marL="100584" marR="100584" marT="36576" marB="36576">
                    <a:solidFill>
                      <a:srgbClr val="12303A"/>
                    </a:solidFill>
                  </a:tcPr>
                </a:tc>
                <a:tc>
                  <a:txBody>
                    <a:bodyPr wrap="square"/>
                    <a:lstStyle/>
                    <a:p>
                      <a:pPr algn="r"/>
                      <a:r>
                        <a:rPr sz="1500" b="1" i="0">
                          <a:solidFill>
                            <a:srgbClr val="5EEAD4"/>
                          </a:solidFill>
                          <a:latin typeface="Calibri"/>
                        </a:rPr>
                        <a:t>Số dòng</a:t>
                      </a:r>
                    </a:p>
                  </a:txBody>
                  <a:tcPr anchor="ctr" marL="100584" marR="100584" marT="36576" marB="36576">
                    <a:solidFill>
                      <a:srgbClr val="12303A"/>
                    </a:solidFill>
                  </a:tcPr>
                </a:tc>
                <a:tc>
                  <a:txBody>
                    <a:bodyPr wrap="square"/>
                    <a:lstStyle/>
                    <a:p>
                      <a:pPr algn="r"/>
                      <a:r>
                        <a:rPr sz="1500" b="1" i="0">
                          <a:solidFill>
                            <a:srgbClr val="5EEAD4"/>
                          </a:solidFill>
                          <a:latin typeface="Calibri"/>
                        </a:rPr>
                        <a:t>Tỉ lệ</a:t>
                      </a:r>
                    </a:p>
                  </a:txBody>
                  <a:tcPr anchor="ctr" marL="100584" marR="100584" marT="36576" marB="36576">
                    <a:solidFill>
                      <a:srgbClr val="12303A"/>
                    </a:solidFill>
                  </a:tcPr>
                </a:tc>
              </a:tr>
              <a:tr h="548640">
                <a:tc>
                  <a:txBody>
                    <a:bodyPr wrap="square"/>
                    <a:lstStyle/>
                    <a:p>
                      <a:pPr algn="l"/>
                      <a:r>
                        <a:rPr sz="1500" b="0" i="0">
                          <a:solidFill>
                            <a:srgbClr val="C5D2E4"/>
                          </a:solidFill>
                          <a:latin typeface="Calibri"/>
                        </a:rPr>
                        <a:t>Tiêu cực (0)</a:t>
                      </a:r>
                    </a:p>
                  </a:txBody>
                  <a:tcPr anchor="ctr" marL="100584" marR="100584" marT="36576" marB="36576">
                    <a:solidFill>
                      <a:srgbClr val="0E1929"/>
                    </a:solidFill>
                  </a:tcPr>
                </a:tc>
                <a:tc>
                  <a:txBody>
                    <a:bodyPr wrap="square"/>
                    <a:lstStyle/>
                    <a:p>
                      <a:pPr algn="r"/>
                      <a:r>
                        <a:rPr sz="1500" b="0" i="0">
                          <a:solidFill>
                            <a:srgbClr val="C5D2E4"/>
                          </a:solidFill>
                          <a:latin typeface="Calibri"/>
                        </a:rPr>
                        <a:t>7.000</a:t>
                      </a:r>
                    </a:p>
                  </a:txBody>
                  <a:tcPr anchor="ctr" marL="100584" marR="100584" marT="36576" marB="36576">
                    <a:solidFill>
                      <a:srgbClr val="0E1929"/>
                    </a:solidFill>
                  </a:tcPr>
                </a:tc>
                <a:tc>
                  <a:txBody>
                    <a:bodyPr wrap="square"/>
                    <a:lstStyle/>
                    <a:p>
                      <a:pPr algn="r"/>
                      <a:r>
                        <a:rPr sz="1500" b="0" i="0">
                          <a:solidFill>
                            <a:srgbClr val="C5D2E4"/>
                          </a:solidFill>
                          <a:latin typeface="Calibri"/>
                        </a:rPr>
                        <a:t>35,0%</a:t>
                      </a:r>
                    </a:p>
                  </a:txBody>
                  <a:tcPr anchor="ctr" marL="100584" marR="100584" marT="36576" marB="36576">
                    <a:solidFill>
                      <a:srgbClr val="0E1929"/>
                    </a:solidFill>
                  </a:tcPr>
                </a:tc>
              </a:tr>
              <a:tr h="548640">
                <a:tc>
                  <a:txBody>
                    <a:bodyPr wrap="square"/>
                    <a:lstStyle/>
                    <a:p>
                      <a:pPr algn="l"/>
                      <a:r>
                        <a:rPr sz="1500" b="0" i="0">
                          <a:solidFill>
                            <a:srgbClr val="C5D2E4"/>
                          </a:solidFill>
                          <a:latin typeface="Calibri"/>
                        </a:rPr>
                        <a:t>Trung tính (1)</a:t>
                      </a:r>
                    </a:p>
                  </a:txBody>
                  <a:tcPr anchor="ctr" marL="100584" marR="100584" marT="36576" marB="36576">
                    <a:solidFill>
                      <a:srgbClr val="121E30"/>
                    </a:solidFill>
                  </a:tcPr>
                </a:tc>
                <a:tc>
                  <a:txBody>
                    <a:bodyPr wrap="square"/>
                    <a:lstStyle/>
                    <a:p>
                      <a:pPr algn="r"/>
                      <a:r>
                        <a:rPr sz="1500" b="0" i="0">
                          <a:solidFill>
                            <a:srgbClr val="C5D2E4"/>
                          </a:solidFill>
                          <a:latin typeface="Calibri"/>
                        </a:rPr>
                        <a:t>3.409</a:t>
                      </a:r>
                    </a:p>
                  </a:txBody>
                  <a:tcPr anchor="ctr" marL="100584" marR="100584" marT="36576" marB="36576">
                    <a:solidFill>
                      <a:srgbClr val="121E30"/>
                    </a:solidFill>
                  </a:tcPr>
                </a:tc>
                <a:tc>
                  <a:txBody>
                    <a:bodyPr wrap="square"/>
                    <a:lstStyle/>
                    <a:p>
                      <a:pPr algn="r"/>
                      <a:r>
                        <a:rPr sz="1500" b="0" i="0">
                          <a:solidFill>
                            <a:srgbClr val="C5D2E4"/>
                          </a:solidFill>
                          <a:latin typeface="Calibri"/>
                        </a:rPr>
                        <a:t>17,0%</a:t>
                      </a:r>
                    </a:p>
                  </a:txBody>
                  <a:tcPr anchor="ctr" marL="100584" marR="100584" marT="36576" marB="36576">
                    <a:solidFill>
                      <a:srgbClr val="121E30"/>
                    </a:solidFill>
                  </a:tcPr>
                </a:tc>
              </a:tr>
              <a:tr h="548640">
                <a:tc>
                  <a:txBody>
                    <a:bodyPr wrap="square"/>
                    <a:lstStyle/>
                    <a:p>
                      <a:pPr algn="l"/>
                      <a:r>
                        <a:rPr sz="1500" b="0" i="0">
                          <a:solidFill>
                            <a:srgbClr val="C5D2E4"/>
                          </a:solidFill>
                          <a:latin typeface="Calibri"/>
                        </a:rPr>
                        <a:t>Tích cực (2)</a:t>
                      </a:r>
                    </a:p>
                  </a:txBody>
                  <a:tcPr anchor="ctr" marL="100584" marR="100584" marT="36576" marB="36576">
                    <a:solidFill>
                      <a:srgbClr val="0E1929"/>
                    </a:solidFill>
                  </a:tcPr>
                </a:tc>
                <a:tc>
                  <a:txBody>
                    <a:bodyPr wrap="square"/>
                    <a:lstStyle/>
                    <a:p>
                      <a:pPr algn="r"/>
                      <a:r>
                        <a:rPr sz="1500" b="0" i="0">
                          <a:solidFill>
                            <a:srgbClr val="C5D2E4"/>
                          </a:solidFill>
                          <a:latin typeface="Calibri"/>
                        </a:rPr>
                        <a:t>9.591</a:t>
                      </a:r>
                    </a:p>
                  </a:txBody>
                  <a:tcPr anchor="ctr" marL="100584" marR="100584" marT="36576" marB="36576">
                    <a:solidFill>
                      <a:srgbClr val="0E1929"/>
                    </a:solidFill>
                  </a:tcPr>
                </a:tc>
                <a:tc>
                  <a:txBody>
                    <a:bodyPr wrap="square"/>
                    <a:lstStyle/>
                    <a:p>
                      <a:pPr algn="r"/>
                      <a:r>
                        <a:rPr sz="1500" b="0" i="0">
                          <a:solidFill>
                            <a:srgbClr val="C5D2E4"/>
                          </a:solidFill>
                          <a:latin typeface="Calibri"/>
                        </a:rPr>
                        <a:t>48,0%</a:t>
                      </a:r>
                    </a:p>
                  </a:txBody>
                  <a:tcPr anchor="ctr" marL="100584" marR="100584" marT="36576" marB="36576">
                    <a:solidFill>
                      <a:srgbClr val="0E1929"/>
                    </a:solidFill>
                  </a:tcPr>
                </a:tc>
              </a:tr>
              <a:tr h="548640">
                <a:tc>
                  <a:txBody>
                    <a:bodyPr wrap="square"/>
                    <a:lstStyle/>
                    <a:p>
                      <a:pPr algn="l"/>
                      <a:r>
                        <a:rPr sz="1500" b="0" i="0">
                          <a:solidFill>
                            <a:srgbClr val="C5D2E4"/>
                          </a:solidFill>
                          <a:latin typeface="Calibri"/>
                        </a:rPr>
                        <a:t>Tổng, sau tiền xử lý</a:t>
                      </a:r>
                    </a:p>
                  </a:txBody>
                  <a:tcPr anchor="ctr" marL="100584" marR="100584" marT="36576" marB="36576">
                    <a:solidFill>
                      <a:srgbClr val="121E30"/>
                    </a:solidFill>
                  </a:tcPr>
                </a:tc>
                <a:tc>
                  <a:txBody>
                    <a:bodyPr wrap="square"/>
                    <a:lstStyle/>
                    <a:p>
                      <a:pPr algn="r"/>
                      <a:r>
                        <a:rPr sz="1500" b="0" i="0">
                          <a:solidFill>
                            <a:srgbClr val="C5D2E4"/>
                          </a:solidFill>
                          <a:latin typeface="Calibri"/>
                        </a:rPr>
                        <a:t>19.997</a:t>
                      </a:r>
                    </a:p>
                  </a:txBody>
                  <a:tcPr anchor="ctr" marL="100584" marR="100584" marT="36576" marB="36576">
                    <a:solidFill>
                      <a:srgbClr val="121E30"/>
                    </a:solidFill>
                  </a:tcPr>
                </a:tc>
                <a:tc>
                  <a:txBody>
                    <a:bodyPr wrap="square"/>
                    <a:lstStyle/>
                    <a:p>
                      <a:pPr algn="r"/>
                      <a:r>
                        <a:rPr sz="1500" b="0" i="0">
                          <a:solidFill>
                            <a:srgbClr val="C5D2E4"/>
                          </a:solidFill>
                          <a:latin typeface="Calibri"/>
                        </a:rPr>
                        <a:t>3 dòng rỗng</a:t>
                      </a:r>
                    </a:p>
                  </a:txBody>
                  <a:tcPr anchor="ctr" marL="100584" marR="100584" marT="36576" marB="36576">
                    <a:solidFill>
                      <a:srgbClr val="121E30"/>
                    </a:solidFill>
                  </a:tcPr>
                </a:tc>
              </a:tr>
            </a:tbl>
          </a:graphicData>
        </a:graphic>
      </p:graphicFrame>
      <p:sp>
        <p:nvSpPr>
          <p:cNvPr id="7" name="TextBox 6"/>
          <p:cNvSpPr txBox="1"/>
          <p:nvPr/>
        </p:nvSpPr>
        <p:spPr>
          <a:xfrm>
            <a:off x="6263640" y="1874519"/>
            <a:ext cx="5212080" cy="4343400"/>
          </a:xfrm>
          <a:prstGeom prst="rect">
            <a:avLst/>
          </a:prstGeom>
          <a:noFill/>
        </p:spPr>
        <p:txBody>
          <a:bodyPr wrap="square" lIns="0" rIns="0" tIns="0" bIns="0">
            <a:spAutoFit/>
          </a:bodyPr>
          <a:lstStyle/>
          <a:p>
            <a:pPr marL="219456" indent="-219456">
              <a:lnSpc>
                <a:spcPct val="118000"/>
              </a:lnSpc>
              <a:spcAft>
                <a:spcPts val="2000"/>
              </a:spcAft>
              <a:buClr>
                <a:srgbClr val="2DD4BF"/>
              </a:buClr>
              <a:buFont typeface="Arial"/>
              <a:buChar char="•"/>
            </a:pPr>
            <a:r>
              <a:rPr sz="1750" b="0" i="0">
                <a:solidFill>
                  <a:srgbClr val="C5D2E4"/>
                </a:solidFill>
                <a:latin typeface="Calibri"/>
              </a:rPr>
              <a:t>Gói ATSH-NLP-20k, dự án ATSH-ABSA (Phạm Xuân Vĩnh Hà, UIT); bình luận về Anh Trai Say Hi mùa 1, tập 1 đến 14</a:t>
            </a:r>
          </a:p>
          <a:p>
            <a:pPr marL="219456" indent="-219456">
              <a:lnSpc>
                <a:spcPct val="118000"/>
              </a:lnSpc>
              <a:spcAft>
                <a:spcPts val="2000"/>
              </a:spcAft>
              <a:buClr>
                <a:srgbClr val="2DD4BF"/>
              </a:buClr>
              <a:buFont typeface="Arial"/>
              <a:buChar char="•"/>
            </a:pPr>
            <a:r>
              <a:rPr sz="1750" b="0" i="0">
                <a:solidFill>
                  <a:srgbClr val="C5D2E4"/>
                </a:solidFill>
                <a:latin typeface="Calibri"/>
              </a:rPr>
              <a:t>Nhãn silver do mô hình ngôn ngữ lớn gán theo đối tượng và khía cạnh rồi gộp; chưa kiểm tay, trung tính nhiễu nhất</a:t>
            </a:r>
          </a:p>
          <a:p>
            <a:pPr marL="219456" indent="-219456">
              <a:lnSpc>
                <a:spcPct val="118000"/>
              </a:lnSpc>
              <a:spcAft>
                <a:spcPts val="2000"/>
              </a:spcAft>
              <a:buClr>
                <a:srgbClr val="2DD4BF"/>
              </a:buClr>
              <a:buFont typeface="Arial"/>
              <a:buChar char="•"/>
            </a:pPr>
            <a:r>
              <a:rPr sz="1750" b="0" i="0">
                <a:solidFill>
                  <a:srgbClr val="C5D2E4"/>
                </a:solidFill>
                <a:latin typeface="Calibri"/>
              </a:rPr>
              <a:t>Tác giả lấy mẫu lại từ dữ liệu gốc khoảng 88% tích cực; tỉ lệ nhãn không phải tỉ lệ thật trên YouTube</a:t>
            </a:r>
          </a:p>
          <a:p>
            <a:pPr marL="219456" indent="-219456">
              <a:lnSpc>
                <a:spcPct val="118000"/>
              </a:lnSpc>
              <a:spcAft>
                <a:spcPts val="2000"/>
              </a:spcAft>
              <a:buClr>
                <a:srgbClr val="2DD4BF"/>
              </a:buClr>
              <a:buFont typeface="Arial"/>
              <a:buChar char="•"/>
            </a:pPr>
            <a:r>
              <a:rPr sz="1750" b="0" i="0">
                <a:solidFill>
                  <a:srgbClr val="C5D2E4"/>
                </a:solidFill>
                <a:latin typeface="Calibri"/>
              </a:rPr>
              <a:t>Một chương trình duy nhất; chỉ dùng cho học tập, không công bố lại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2 · TIỀN XỬ LÝ</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Tách từ trước, hạ chữ thường sau</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5</a:t>
            </a:r>
          </a:p>
        </p:txBody>
      </p:sp>
      <p:sp>
        <p:nvSpPr>
          <p:cNvPr id="6" name="TextBox 5"/>
          <p:cNvSpPr txBox="1"/>
          <p:nvPr/>
        </p:nvSpPr>
        <p:spPr>
          <a:xfrm>
            <a:off x="731520" y="1810512"/>
            <a:ext cx="10728655" cy="4407407"/>
          </a:xfrm>
          <a:prstGeom prst="rect">
            <a:avLst/>
          </a:prstGeom>
          <a:noFill/>
        </p:spPr>
        <p:txBody>
          <a:bodyPr wrap="square" lIns="0" rIns="0" tIns="0" bIns="0">
            <a:spAutoFit/>
          </a:bodyPr>
          <a:lstStyle/>
          <a:p>
            <a:pPr marL="219456" indent="-219456">
              <a:lnSpc>
                <a:spcPct val="118000"/>
              </a:lnSpc>
              <a:spcAft>
                <a:spcPts val="2000"/>
              </a:spcAft>
              <a:buClr>
                <a:srgbClr val="2DD4BF"/>
              </a:buClr>
              <a:buFont typeface="Arial"/>
              <a:buChar char="•"/>
            </a:pPr>
            <a:r>
              <a:rPr sz="1700" b="1" i="0">
                <a:solidFill>
                  <a:srgbClr val="F2F6FB"/>
                </a:solidFill>
                <a:latin typeface="Calibri"/>
              </a:rPr>
              <a:t>Thứ tự trong mã: </a:t>
            </a:r>
            <a:r>
              <a:rPr sz="1700" b="0" i="0">
                <a:solidFill>
                  <a:srgbClr val="C5D2E4"/>
                </a:solidFill>
                <a:latin typeface="Calibri"/>
              </a:rPr>
              <a:t>chuẩn hóa NFC, bỏ URL, bỏ ký hiệu @ và #, thay dấu câu và emoji bằng khoảng trắng, rút chữ lặp (luônnnn thành luôn), chuẩn hóa teencode, tách từ bằng pyvi, cuối cùng mới hạ chữ thường</a:t>
            </a:r>
          </a:p>
          <a:p>
            <a:pPr marL="219456" indent="-219456">
              <a:lnSpc>
                <a:spcPct val="118000"/>
              </a:lnSpc>
              <a:spcAft>
                <a:spcPts val="2000"/>
              </a:spcAft>
              <a:buClr>
                <a:srgbClr val="2DD4BF"/>
              </a:buClr>
              <a:buFont typeface="Arial"/>
              <a:buChar char="•"/>
            </a:pPr>
            <a:r>
              <a:rPr sz="1700" b="1" i="0">
                <a:solidFill>
                  <a:srgbClr val="F2F6FB"/>
                </a:solidFill>
                <a:latin typeface="Calibri"/>
              </a:rPr>
              <a:t>Vì sao thứ tự đó: </a:t>
            </a:r>
            <a:r>
              <a:rPr sz="1700" b="0" i="0">
                <a:solidFill>
                  <a:srgbClr val="C5D2E4"/>
                </a:solidFill>
                <a:latin typeface="Calibri"/>
              </a:rPr>
              <a:t>pyvi phân biệt chữ hoa khi ghép tên riêng. </a:t>
            </a:r>
            <a:r>
              <a:rPr sz="1700" b="0" i="1">
                <a:solidFill>
                  <a:srgbClr val="5EEAD4"/>
                </a:solidFill>
                <a:latin typeface="Calibri"/>
              </a:rPr>
              <a:t>Đông Hùng hát</a:t>
            </a:r>
            <a:r>
              <a:rPr sz="1700" b="0" i="0">
                <a:solidFill>
                  <a:srgbClr val="C5D2E4"/>
                </a:solidFill>
                <a:latin typeface="Calibri"/>
              </a:rPr>
              <a:t> cho </a:t>
            </a:r>
            <a:r>
              <a:rPr sz="1700" b="0" i="1">
                <a:solidFill>
                  <a:srgbClr val="5EEAD4"/>
                </a:solidFill>
                <a:latin typeface="Calibri"/>
              </a:rPr>
              <a:t>Đông_Hùng hát</a:t>
            </a:r>
            <a:r>
              <a:rPr sz="1700" b="0" i="0">
                <a:solidFill>
                  <a:srgbClr val="C5D2E4"/>
                </a:solidFill>
                <a:latin typeface="Calibri"/>
              </a:rPr>
              <a:t>; đã hạ chữ thường thì thành ba token rời</a:t>
            </a:r>
          </a:p>
          <a:p>
            <a:pPr marL="219456" indent="-219456">
              <a:lnSpc>
                <a:spcPct val="118000"/>
              </a:lnSpc>
              <a:spcAft>
                <a:spcPts val="2000"/>
              </a:spcAft>
              <a:buClr>
                <a:srgbClr val="2DD4BF"/>
              </a:buClr>
              <a:buFont typeface="Arial"/>
              <a:buChar char="•"/>
            </a:pPr>
            <a:r>
              <a:rPr sz="1700" b="0" i="0">
                <a:solidFill>
                  <a:srgbClr val="C5D2E4"/>
                </a:solidFill>
                <a:latin typeface="Calibri"/>
              </a:rPr>
              <a:t>Từ điển teencode chỉ sửa chính tả </a:t>
            </a:r>
            <a:r>
              <a:rPr sz="1700" b="0" i="1">
                <a:solidFill>
                  <a:srgbClr val="C5D2E4"/>
                </a:solidFill>
                <a:latin typeface="Calibri"/>
              </a:rPr>
              <a:t>(ko, hok, khong thành không)</a:t>
            </a:r>
            <a:r>
              <a:rPr sz="1700" b="0" i="0">
                <a:solidFill>
                  <a:srgbClr val="C5D2E4"/>
                </a:solidFill>
                <a:latin typeface="Calibri"/>
              </a:rPr>
              <a:t>, không dịch tiếng lóng sang từ cảm xúc. Bản cũ có ok thành tốt, vcl thành rất: đó là gán nhãn trước khi mô hình học</a:t>
            </a:r>
          </a:p>
          <a:p>
            <a:pPr marL="219456" indent="-219456">
              <a:lnSpc>
                <a:spcPct val="118000"/>
              </a:lnSpc>
              <a:spcAft>
                <a:spcPts val="2000"/>
              </a:spcAft>
              <a:buClr>
                <a:srgbClr val="2DD4BF"/>
              </a:buClr>
              <a:buFont typeface="Arial"/>
              <a:buChar char="•"/>
            </a:pPr>
            <a:r>
              <a:rPr sz="1700" b="0" i="0">
                <a:solidFill>
                  <a:srgbClr val="C5D2E4"/>
                </a:solidFill>
                <a:latin typeface="Calibri"/>
              </a:rPr>
              <a:t>236 từ dừng chỉ dùng cho từ khóa chủ đề, vì </a:t>
            </a:r>
            <a:r>
              <a:rPr sz="1700" b="0" i="1">
                <a:solidFill>
                  <a:srgbClr val="5EEAD4"/>
                </a:solidFill>
                <a:latin typeface="Calibri"/>
              </a:rPr>
              <a:t>không</a:t>
            </a:r>
            <a:r>
              <a:rPr sz="1700" b="0" i="0">
                <a:solidFill>
                  <a:srgbClr val="C5D2E4"/>
                </a:solidFill>
                <a:latin typeface="Calibri"/>
              </a:rPr>
              <a:t> nằm trong danh sách và là đặc trưng mạnh nhất của lớp tiêu cực (+2,93)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2 · THÍ NGHIỆM</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Đổi tiền xử lý không đổi điểm cảm xúc, nhưng đổi từ khóa chủ đề</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6</a:t>
            </a:r>
          </a:p>
        </p:txBody>
      </p:sp>
      <p:graphicFrame>
        <p:nvGraphicFramePr>
          <p:cNvPr id="6" name="Table 5"/>
          <p:cNvGraphicFramePr>
            <a:graphicFrameLocks noGrp="1"/>
          </p:cNvGraphicFramePr>
          <p:nvPr/>
        </p:nvGraphicFramePr>
        <p:xfrm>
          <a:off x="731520" y="1874519"/>
          <a:ext cx="10765231" cy="2139696"/>
        </p:xfrm>
        <a:graphic>
          <a:graphicData uri="http://schemas.openxmlformats.org/drawingml/2006/table">
            <a:tbl>
              <a:tblPr>
                <a:tableStyleId>{2D5ABB26-0587-4C30-8999-92F81FD0307C}</a:tableStyleId>
              </a:tblPr>
              <a:tblGrid>
                <a:gridCol w="1828800"/>
                <a:gridCol w="822960"/>
                <a:gridCol w="2834640"/>
                <a:gridCol w="2834640"/>
                <a:gridCol w="2444191"/>
              </a:tblGrid>
              <a:tr h="457200">
                <a:tc>
                  <a:txBody>
                    <a:bodyPr wrap="square"/>
                    <a:lstStyle/>
                    <a:p>
                      <a:pPr algn="l"/>
                      <a:r>
                        <a:rPr sz="1350" b="1" i="0">
                          <a:solidFill>
                            <a:srgbClr val="5EEAD4"/>
                          </a:solidFill>
                          <a:latin typeface="Calibri"/>
                        </a:rPr>
                        <a:t>Tiền xử lý</a:t>
                      </a:r>
                    </a:p>
                  </a:txBody>
                  <a:tcPr anchor="ctr" marL="100584" marR="100584" marT="36576" marB="36576">
                    <a:solidFill>
                      <a:srgbClr val="12303A"/>
                    </a:solidFill>
                  </a:tcPr>
                </a:tc>
                <a:tc>
                  <a:txBody>
                    <a:bodyPr wrap="square"/>
                    <a:lstStyle/>
                    <a:p>
                      <a:pPr algn="l"/>
                      <a:r>
                        <a:rPr sz="1350" b="1" i="0">
                          <a:solidFill>
                            <a:srgbClr val="5EEAD4"/>
                          </a:solidFill>
                          <a:latin typeface="Calibri"/>
                        </a:rPr>
                        <a:t>C</a:t>
                      </a:r>
                    </a:p>
                  </a:txBody>
                  <a:tcPr anchor="ctr" marL="100584" marR="100584" marT="36576" marB="36576">
                    <a:solidFill>
                      <a:srgbClr val="12303A"/>
                    </a:solidFill>
                  </a:tcPr>
                </a:tc>
                <a:tc>
                  <a:txBody>
                    <a:bodyPr wrap="square"/>
                    <a:lstStyle/>
                    <a:p>
                      <a:pPr algn="r"/>
                      <a:r>
                        <a:rPr sz="1350" b="1" i="0">
                          <a:solidFill>
                            <a:srgbClr val="5EEAD4"/>
                          </a:solidFill>
                          <a:latin typeface="Calibri"/>
                        </a:rPr>
                        <a:t>Tỉ lệ dự đoán đúng</a:t>
                      </a:r>
                    </a:p>
                  </a:txBody>
                  <a:tcPr anchor="ctr" marL="100584" marR="100584" marT="36576" marB="36576">
                    <a:solidFill>
                      <a:srgbClr val="12303A"/>
                    </a:solidFill>
                  </a:tcPr>
                </a:tc>
                <a:tc>
                  <a:txBody>
                    <a:bodyPr wrap="square"/>
                    <a:lstStyle/>
                    <a:p>
                      <a:pPr algn="r"/>
                      <a:r>
                        <a:rPr sz="1350" b="1" i="0">
                          <a:solidFill>
                            <a:srgbClr val="5EEAD4"/>
                          </a:solidFill>
                          <a:latin typeface="Calibri"/>
                        </a:rPr>
                        <a:t>Macro-F1</a:t>
                      </a:r>
                    </a:p>
                  </a:txBody>
                  <a:tcPr anchor="ctr" marL="100584" marR="100584" marT="36576" marB="36576">
                    <a:solidFill>
                      <a:srgbClr val="12303A"/>
                    </a:solidFill>
                  </a:tcPr>
                </a:tc>
                <a:tc>
                  <a:txBody>
                    <a:bodyPr wrap="square"/>
                    <a:lstStyle/>
                    <a:p>
                      <a:pPr algn="r"/>
                      <a:r>
                        <a:rPr sz="1350" b="1" i="0">
                          <a:solidFill>
                            <a:srgbClr val="5EEAD4"/>
                          </a:solidFill>
                          <a:latin typeface="Calibri"/>
                        </a:rPr>
                        <a:t>F1 trung tính</a:t>
                      </a:r>
                    </a:p>
                  </a:txBody>
                  <a:tcPr anchor="ctr" marL="100584" marR="100584" marT="36576" marB="36576">
                    <a:solidFill>
                      <a:srgbClr val="12303A"/>
                    </a:solidFill>
                  </a:tcPr>
                </a:tc>
              </a:tr>
              <a:tr h="420624">
                <a:tc>
                  <a:txBody>
                    <a:bodyPr wrap="square"/>
                    <a:lstStyle/>
                    <a:p>
                      <a:pPr algn="l"/>
                      <a:r>
                        <a:rPr sz="1350" b="0" i="0">
                          <a:solidFill>
                            <a:srgbClr val="C5D2E4"/>
                          </a:solidFill>
                          <a:latin typeface="Calibri"/>
                        </a:rPr>
                        <a:t>Cũ</a:t>
                      </a:r>
                    </a:p>
                  </a:txBody>
                  <a:tcPr anchor="ctr" marL="100584" marR="100584" marT="36576" marB="36576">
                    <a:solidFill>
                      <a:srgbClr val="0E1929"/>
                    </a:solidFill>
                  </a:tcPr>
                </a:tc>
                <a:tc>
                  <a:txBody>
                    <a:bodyPr wrap="square"/>
                    <a:lstStyle/>
                    <a:p>
                      <a:pPr algn="l"/>
                      <a:r>
                        <a:rPr sz="1350" b="0" i="0">
                          <a:solidFill>
                            <a:srgbClr val="C5D2E4"/>
                          </a:solidFill>
                          <a:latin typeface="Calibri"/>
                        </a:rPr>
                        <a:t>0,3</a:t>
                      </a:r>
                    </a:p>
                  </a:txBody>
                  <a:tcPr anchor="ctr" marL="100584" marR="100584" marT="36576" marB="36576">
                    <a:solidFill>
                      <a:srgbClr val="0E1929"/>
                    </a:solidFill>
                  </a:tcPr>
                </a:tc>
                <a:tc>
                  <a:txBody>
                    <a:bodyPr wrap="square"/>
                    <a:lstStyle/>
                    <a:p>
                      <a:pPr algn="r"/>
                      <a:r>
                        <a:rPr sz="1350" b="0" i="0">
                          <a:solidFill>
                            <a:srgbClr val="C5D2E4"/>
                          </a:solidFill>
                          <a:latin typeface="Calibri"/>
                        </a:rPr>
                        <a:t>77,58% ± 0,47</a:t>
                      </a:r>
                    </a:p>
                  </a:txBody>
                  <a:tcPr anchor="ctr" marL="100584" marR="100584" marT="36576" marB="36576">
                    <a:solidFill>
                      <a:srgbClr val="0E1929"/>
                    </a:solidFill>
                  </a:tcPr>
                </a:tc>
                <a:tc>
                  <a:txBody>
                    <a:bodyPr wrap="square"/>
                    <a:lstStyle/>
                    <a:p>
                      <a:pPr algn="r"/>
                      <a:r>
                        <a:rPr sz="1350" b="0" i="0">
                          <a:solidFill>
                            <a:srgbClr val="C5D2E4"/>
                          </a:solidFill>
                          <a:latin typeface="Calibri"/>
                        </a:rPr>
                        <a:t>0,7199 ± 0,0052</a:t>
                      </a:r>
                    </a:p>
                  </a:txBody>
                  <a:tcPr anchor="ctr" marL="100584" marR="100584" marT="36576" marB="36576">
                    <a:solidFill>
                      <a:srgbClr val="0E1929"/>
                    </a:solidFill>
                  </a:tcPr>
                </a:tc>
                <a:tc>
                  <a:txBody>
                    <a:bodyPr wrap="square"/>
                    <a:lstStyle/>
                    <a:p>
                      <a:pPr algn="r"/>
                      <a:r>
                        <a:rPr sz="1350" b="0" i="0">
                          <a:solidFill>
                            <a:srgbClr val="C5D2E4"/>
                          </a:solidFill>
                          <a:latin typeface="Calibri"/>
                        </a:rPr>
                        <a:t>0,5218</a:t>
                      </a:r>
                    </a:p>
                  </a:txBody>
                  <a:tcPr anchor="ctr" marL="100584" marR="100584" marT="36576" marB="36576">
                    <a:solidFill>
                      <a:srgbClr val="0E1929"/>
                    </a:solidFill>
                  </a:tcPr>
                </a:tc>
              </a:tr>
              <a:tr h="420624">
                <a:tc>
                  <a:txBody>
                    <a:bodyPr wrap="square"/>
                    <a:lstStyle/>
                    <a:p>
                      <a:pPr algn="l"/>
                      <a:r>
                        <a:rPr sz="1350" b="0" i="0">
                          <a:solidFill>
                            <a:srgbClr val="C5D2E4"/>
                          </a:solidFill>
                          <a:latin typeface="Calibri"/>
                        </a:rPr>
                        <a:t>Mới</a:t>
                      </a:r>
                    </a:p>
                  </a:txBody>
                  <a:tcPr anchor="ctr" marL="100584" marR="100584" marT="36576" marB="36576">
                    <a:solidFill>
                      <a:srgbClr val="121E30"/>
                    </a:solidFill>
                  </a:tcPr>
                </a:tc>
                <a:tc>
                  <a:txBody>
                    <a:bodyPr wrap="square"/>
                    <a:lstStyle/>
                    <a:p>
                      <a:pPr algn="l"/>
                      <a:r>
                        <a:rPr sz="1350" b="0" i="0">
                          <a:solidFill>
                            <a:srgbClr val="C5D2E4"/>
                          </a:solidFill>
                          <a:latin typeface="Calibri"/>
                        </a:rPr>
                        <a:t>0,3</a:t>
                      </a:r>
                    </a:p>
                  </a:txBody>
                  <a:tcPr anchor="ctr" marL="100584" marR="100584" marT="36576" marB="36576">
                    <a:solidFill>
                      <a:srgbClr val="121E30"/>
                    </a:solidFill>
                  </a:tcPr>
                </a:tc>
                <a:tc>
                  <a:txBody>
                    <a:bodyPr wrap="square"/>
                    <a:lstStyle/>
                    <a:p>
                      <a:pPr algn="r"/>
                      <a:r>
                        <a:rPr sz="1350" b="0" i="0">
                          <a:solidFill>
                            <a:srgbClr val="C5D2E4"/>
                          </a:solidFill>
                          <a:latin typeface="Calibri"/>
                        </a:rPr>
                        <a:t>77,58% ± 0,50</a:t>
                      </a:r>
                    </a:p>
                  </a:txBody>
                  <a:tcPr anchor="ctr" marL="100584" marR="100584" marT="36576" marB="36576">
                    <a:solidFill>
                      <a:srgbClr val="121E30"/>
                    </a:solidFill>
                  </a:tcPr>
                </a:tc>
                <a:tc>
                  <a:txBody>
                    <a:bodyPr wrap="square"/>
                    <a:lstStyle/>
                    <a:p>
                      <a:pPr algn="r"/>
                      <a:r>
                        <a:rPr sz="1350" b="0" i="0">
                          <a:solidFill>
                            <a:srgbClr val="C5D2E4"/>
                          </a:solidFill>
                          <a:latin typeface="Calibri"/>
                        </a:rPr>
                        <a:t>0,7200 ± 0,0041</a:t>
                      </a:r>
                    </a:p>
                  </a:txBody>
                  <a:tcPr anchor="ctr" marL="100584" marR="100584" marT="36576" marB="36576">
                    <a:solidFill>
                      <a:srgbClr val="121E30"/>
                    </a:solidFill>
                  </a:tcPr>
                </a:tc>
                <a:tc>
                  <a:txBody>
                    <a:bodyPr wrap="square"/>
                    <a:lstStyle/>
                    <a:p>
                      <a:pPr algn="r"/>
                      <a:r>
                        <a:rPr sz="1350" b="0" i="0">
                          <a:solidFill>
                            <a:srgbClr val="C5D2E4"/>
                          </a:solidFill>
                          <a:latin typeface="Calibri"/>
                        </a:rPr>
                        <a:t>0,5222</a:t>
                      </a:r>
                    </a:p>
                  </a:txBody>
                  <a:tcPr anchor="ctr" marL="100584" marR="100584" marT="36576" marB="36576">
                    <a:solidFill>
                      <a:srgbClr val="121E30"/>
                    </a:solidFill>
                  </a:tcPr>
                </a:tc>
              </a:tr>
              <a:tr h="420624">
                <a:tc>
                  <a:txBody>
                    <a:bodyPr wrap="square"/>
                    <a:lstStyle/>
                    <a:p>
                      <a:pPr algn="l"/>
                      <a:r>
                        <a:rPr sz="1350" b="0" i="0">
                          <a:solidFill>
                            <a:srgbClr val="C5D2E4"/>
                          </a:solidFill>
                          <a:latin typeface="Calibri"/>
                        </a:rPr>
                        <a:t>Cũ</a:t>
                      </a:r>
                    </a:p>
                  </a:txBody>
                  <a:tcPr anchor="ctr" marL="100584" marR="100584" marT="36576" marB="36576">
                    <a:solidFill>
                      <a:srgbClr val="0E1929"/>
                    </a:solidFill>
                  </a:tcPr>
                </a:tc>
                <a:tc>
                  <a:txBody>
                    <a:bodyPr wrap="square"/>
                    <a:lstStyle/>
                    <a:p>
                      <a:pPr algn="l"/>
                      <a:r>
                        <a:rPr sz="1350" b="0" i="0">
                          <a:solidFill>
                            <a:srgbClr val="C5D2E4"/>
                          </a:solidFill>
                          <a:latin typeface="Calibri"/>
                        </a:rPr>
                        <a:t>1,0</a:t>
                      </a:r>
                    </a:p>
                  </a:txBody>
                  <a:tcPr anchor="ctr" marL="100584" marR="100584" marT="36576" marB="36576">
                    <a:solidFill>
                      <a:srgbClr val="0E1929"/>
                    </a:solidFill>
                  </a:tcPr>
                </a:tc>
                <a:tc>
                  <a:txBody>
                    <a:bodyPr wrap="square"/>
                    <a:lstStyle/>
                    <a:p>
                      <a:pPr algn="r"/>
                      <a:r>
                        <a:rPr sz="1350" b="0" i="0">
                          <a:solidFill>
                            <a:srgbClr val="C5D2E4"/>
                          </a:solidFill>
                          <a:latin typeface="Calibri"/>
                        </a:rPr>
                        <a:t>76,61% ± 0,40</a:t>
                      </a:r>
                    </a:p>
                  </a:txBody>
                  <a:tcPr anchor="ctr" marL="100584" marR="100584" marT="36576" marB="36576">
                    <a:solidFill>
                      <a:srgbClr val="0E1929"/>
                    </a:solidFill>
                  </a:tcPr>
                </a:tc>
                <a:tc>
                  <a:txBody>
                    <a:bodyPr wrap="square"/>
                    <a:lstStyle/>
                    <a:p>
                      <a:pPr algn="r"/>
                      <a:r>
                        <a:rPr sz="1350" b="0" i="0">
                          <a:solidFill>
                            <a:srgbClr val="C5D2E4"/>
                          </a:solidFill>
                          <a:latin typeface="Calibri"/>
                        </a:rPr>
                        <a:t>0,7079 ± 0,0052</a:t>
                      </a:r>
                    </a:p>
                  </a:txBody>
                  <a:tcPr anchor="ctr" marL="100584" marR="100584" marT="36576" marB="36576">
                    <a:solidFill>
                      <a:srgbClr val="0E1929"/>
                    </a:solidFill>
                  </a:tcPr>
                </a:tc>
                <a:tc>
                  <a:txBody>
                    <a:bodyPr wrap="square"/>
                    <a:lstStyle/>
                    <a:p>
                      <a:pPr algn="r"/>
                      <a:r>
                        <a:rPr sz="1350" b="0" i="0">
                          <a:solidFill>
                            <a:srgbClr val="C5D2E4"/>
                          </a:solidFill>
                          <a:latin typeface="Calibri"/>
                        </a:rPr>
                        <a:t>0,5004</a:t>
                      </a:r>
                    </a:p>
                  </a:txBody>
                  <a:tcPr anchor="ctr" marL="100584" marR="100584" marT="36576" marB="36576">
                    <a:solidFill>
                      <a:srgbClr val="0E1929"/>
                    </a:solidFill>
                  </a:tcPr>
                </a:tc>
              </a:tr>
              <a:tr h="420624">
                <a:tc>
                  <a:txBody>
                    <a:bodyPr wrap="square"/>
                    <a:lstStyle/>
                    <a:p>
                      <a:pPr algn="l"/>
                      <a:r>
                        <a:rPr sz="1350" b="0" i="0">
                          <a:solidFill>
                            <a:srgbClr val="C5D2E4"/>
                          </a:solidFill>
                          <a:latin typeface="Calibri"/>
                        </a:rPr>
                        <a:t>Mới</a:t>
                      </a:r>
                    </a:p>
                  </a:txBody>
                  <a:tcPr anchor="ctr" marL="100584" marR="100584" marT="36576" marB="36576">
                    <a:solidFill>
                      <a:srgbClr val="121E30"/>
                    </a:solidFill>
                  </a:tcPr>
                </a:tc>
                <a:tc>
                  <a:txBody>
                    <a:bodyPr wrap="square"/>
                    <a:lstStyle/>
                    <a:p>
                      <a:pPr algn="l"/>
                      <a:r>
                        <a:rPr sz="1350" b="0" i="0">
                          <a:solidFill>
                            <a:srgbClr val="C5D2E4"/>
                          </a:solidFill>
                          <a:latin typeface="Calibri"/>
                        </a:rPr>
                        <a:t>1,0</a:t>
                      </a:r>
                    </a:p>
                  </a:txBody>
                  <a:tcPr anchor="ctr" marL="100584" marR="100584" marT="36576" marB="36576">
                    <a:solidFill>
                      <a:srgbClr val="121E30"/>
                    </a:solidFill>
                  </a:tcPr>
                </a:tc>
                <a:tc>
                  <a:txBody>
                    <a:bodyPr wrap="square"/>
                    <a:lstStyle/>
                    <a:p>
                      <a:pPr algn="r"/>
                      <a:r>
                        <a:rPr sz="1350" b="0" i="0">
                          <a:solidFill>
                            <a:srgbClr val="C5D2E4"/>
                          </a:solidFill>
                          <a:latin typeface="Calibri"/>
                        </a:rPr>
                        <a:t>76,57% ± 0,43</a:t>
                      </a:r>
                    </a:p>
                  </a:txBody>
                  <a:tcPr anchor="ctr" marL="100584" marR="100584" marT="36576" marB="36576">
                    <a:solidFill>
                      <a:srgbClr val="121E30"/>
                    </a:solidFill>
                  </a:tcPr>
                </a:tc>
                <a:tc>
                  <a:txBody>
                    <a:bodyPr wrap="square"/>
                    <a:lstStyle/>
                    <a:p>
                      <a:pPr algn="r"/>
                      <a:r>
                        <a:rPr sz="1350" b="0" i="0">
                          <a:solidFill>
                            <a:srgbClr val="C5D2E4"/>
                          </a:solidFill>
                          <a:latin typeface="Calibri"/>
                        </a:rPr>
                        <a:t>0,7075 ± 0,0053</a:t>
                      </a:r>
                    </a:p>
                  </a:txBody>
                  <a:tcPr anchor="ctr" marL="100584" marR="100584" marT="36576" marB="36576">
                    <a:solidFill>
                      <a:srgbClr val="121E30"/>
                    </a:solidFill>
                  </a:tcPr>
                </a:tc>
                <a:tc>
                  <a:txBody>
                    <a:bodyPr wrap="square"/>
                    <a:lstStyle/>
                    <a:p>
                      <a:pPr algn="r"/>
                      <a:r>
                        <a:rPr sz="1350" b="0" i="0">
                          <a:solidFill>
                            <a:srgbClr val="C5D2E4"/>
                          </a:solidFill>
                          <a:latin typeface="Calibri"/>
                        </a:rPr>
                        <a:t>0,5007</a:t>
                      </a:r>
                    </a:p>
                  </a:txBody>
                  <a:tcPr anchor="ctr" marL="100584" marR="100584" marT="36576" marB="36576">
                    <a:solidFill>
                      <a:srgbClr val="121E30"/>
                    </a:solidFill>
                  </a:tcPr>
                </a:tc>
              </a:tr>
            </a:tbl>
          </a:graphicData>
        </a:graphic>
      </p:graphicFrame>
      <p:sp>
        <p:nvSpPr>
          <p:cNvPr id="7" name="TextBox 6"/>
          <p:cNvSpPr txBox="1"/>
          <p:nvPr/>
        </p:nvSpPr>
        <p:spPr>
          <a:xfrm>
            <a:off x="731520" y="4370832"/>
            <a:ext cx="10728655" cy="1847087"/>
          </a:xfrm>
          <a:prstGeom prst="rect">
            <a:avLst/>
          </a:prstGeom>
          <a:noFill/>
        </p:spPr>
        <p:txBody>
          <a:bodyPr wrap="square" lIns="0" rIns="0" tIns="0" bIns="0">
            <a:spAutoFit/>
          </a:bodyPr>
          <a:lstStyle/>
          <a:p>
            <a:pPr marL="219456" indent="-219456">
              <a:lnSpc>
                <a:spcPct val="118000"/>
              </a:lnSpc>
              <a:spcAft>
                <a:spcPts val="1400"/>
              </a:spcAft>
              <a:buClr>
                <a:srgbClr val="2DD4BF"/>
              </a:buClr>
              <a:buFont typeface="Arial"/>
              <a:buChar char="•"/>
            </a:pPr>
            <a:r>
              <a:rPr sz="1600" b="0" i="0">
                <a:solidFill>
                  <a:srgbClr val="C5D2E4"/>
                </a:solidFill>
                <a:latin typeface="Calibri"/>
              </a:rPr>
              <a:t>Cùng TF-IDF và LinearSVC, năm hạt giống chia tập (0 đến 4), trên bình luận của tập dữ liệu</a:t>
            </a:r>
          </a:p>
          <a:p>
            <a:pPr marL="219456" indent="-219456">
              <a:lnSpc>
                <a:spcPct val="118000"/>
              </a:lnSpc>
              <a:spcAft>
                <a:spcPts val="1400"/>
              </a:spcAft>
              <a:buClr>
                <a:srgbClr val="2DD4BF"/>
              </a:buClr>
              <a:buFont typeface="Arial"/>
              <a:buChar char="•"/>
            </a:pPr>
            <a:r>
              <a:rPr sz="1600" b="0" i="0">
                <a:solidFill>
                  <a:srgbClr val="C5D2E4"/>
                </a:solidFill>
                <a:latin typeface="Calibri"/>
              </a:rPr>
              <a:t>Mọi chênh lệch nằm trong một độ lệch chuẩn: với bộ phân loại, thay đổi là trung tính</a:t>
            </a:r>
          </a:p>
          <a:p>
            <a:pPr marL="219456" indent="-219456">
              <a:lnSpc>
                <a:spcPct val="118000"/>
              </a:lnSpc>
              <a:spcAft>
                <a:spcPts val="1400"/>
              </a:spcAft>
              <a:buClr>
                <a:srgbClr val="2DD4BF"/>
              </a:buClr>
              <a:buFont typeface="Arial"/>
              <a:buChar char="•"/>
            </a:pPr>
            <a:r>
              <a:rPr sz="1600" b="0" i="0">
                <a:solidFill>
                  <a:srgbClr val="C5D2E4"/>
                </a:solidFill>
                <a:latin typeface="Calibri"/>
              </a:rPr>
              <a:t>Giữ bản mới vì tên riêng thành một token trong từ khóa chủ đề và từ điển không áp sắc thái lên dữ liệu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3 · BIỂU DIỄN</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TF-IDF cho cảm xúc, vector câu 768 chiều cho chủ đề</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7</a:t>
            </a:r>
          </a:p>
        </p:txBody>
      </p:sp>
      <p:sp>
        <p:nvSpPr>
          <p:cNvPr id="6" name="TextBox 5"/>
          <p:cNvSpPr txBox="1"/>
          <p:nvPr/>
        </p:nvSpPr>
        <p:spPr>
          <a:xfrm>
            <a:off x="731520" y="1810512"/>
            <a:ext cx="10728655" cy="4407407"/>
          </a:xfrm>
          <a:prstGeom prst="rect">
            <a:avLst/>
          </a:prstGeom>
          <a:noFill/>
        </p:spPr>
        <p:txBody>
          <a:bodyPr wrap="square" lIns="0" rIns="0" tIns="0" bIns="0">
            <a:spAutoFit/>
          </a:bodyPr>
          <a:lstStyle/>
          <a:p>
            <a:pPr marL="219456" indent="-219456">
              <a:lnSpc>
                <a:spcPct val="118000"/>
              </a:lnSpc>
              <a:spcAft>
                <a:spcPts val="2000"/>
              </a:spcAft>
              <a:buClr>
                <a:srgbClr val="2DD4BF"/>
              </a:buClr>
              <a:buFont typeface="Arial"/>
              <a:buChar char="•"/>
            </a:pPr>
            <a:r>
              <a:rPr sz="1700" b="1" i="0">
                <a:solidFill>
                  <a:srgbClr val="F2F6FB"/>
                </a:solidFill>
                <a:latin typeface="Calibri"/>
              </a:rPr>
              <a:t>Cảm xúc: </a:t>
            </a:r>
            <a:r>
              <a:rPr sz="1700" b="0" i="0">
                <a:solidFill>
                  <a:srgbClr val="C5D2E4"/>
                </a:solidFill>
                <a:latin typeface="Calibri"/>
              </a:rPr>
              <a:t>TF-IDF unigram và bigram, 15.000 đặc trưng, sublinear_tf</a:t>
            </a:r>
          </a:p>
          <a:p>
            <a:pPr marL="219456" indent="-219456">
              <a:lnSpc>
                <a:spcPct val="118000"/>
              </a:lnSpc>
              <a:spcAft>
                <a:spcPts val="2000"/>
              </a:spcAft>
              <a:buClr>
                <a:srgbClr val="2DD4BF"/>
              </a:buClr>
              <a:buFont typeface="Arial"/>
              <a:buChar char="•"/>
            </a:pPr>
            <a:r>
              <a:rPr sz="1700" b="0" i="0">
                <a:solidFill>
                  <a:srgbClr val="C5D2E4"/>
                </a:solidFill>
                <a:latin typeface="Calibri"/>
              </a:rPr>
              <a:t>Bigram là bắt buộc vì phủ định đứng trước từ bị phủ định: </a:t>
            </a:r>
            <a:r>
              <a:rPr sz="1700" b="0" i="1">
                <a:solidFill>
                  <a:srgbClr val="F87171"/>
                </a:solidFill>
                <a:latin typeface="Calibri"/>
              </a:rPr>
              <a:t>không hay</a:t>
            </a:r>
            <a:r>
              <a:rPr sz="1700" b="0" i="0">
                <a:solidFill>
                  <a:srgbClr val="C5D2E4"/>
                </a:solidFill>
                <a:latin typeface="Calibri"/>
              </a:rPr>
              <a:t>, </a:t>
            </a:r>
            <a:r>
              <a:rPr sz="1700" b="0" i="1">
                <a:solidFill>
                  <a:srgbClr val="F87171"/>
                </a:solidFill>
                <a:latin typeface="Calibri"/>
              </a:rPr>
              <a:t>không thích</a:t>
            </a:r>
            <a:r>
              <a:rPr sz="1700" b="0" i="0">
                <a:solidFill>
                  <a:srgbClr val="C5D2E4"/>
                </a:solidFill>
                <a:latin typeface="Calibri"/>
              </a:rPr>
              <a:t> là đặc trưng của lớp tiêu cực; </a:t>
            </a:r>
            <a:r>
              <a:rPr sz="1700" b="0" i="1">
                <a:solidFill>
                  <a:srgbClr val="93A6C0"/>
                </a:solidFill>
                <a:latin typeface="Calibri"/>
              </a:rPr>
              <a:t>hay mà</a:t>
            </a:r>
            <a:r>
              <a:rPr sz="1700" b="0" i="0">
                <a:solidFill>
                  <a:srgbClr val="C5D2E4"/>
                </a:solidFill>
                <a:latin typeface="Calibri"/>
              </a:rPr>
              <a:t>, </a:t>
            </a:r>
            <a:r>
              <a:rPr sz="1700" b="0" i="1">
                <a:solidFill>
                  <a:srgbClr val="93A6C0"/>
                </a:solidFill>
                <a:latin typeface="Calibri"/>
              </a:rPr>
              <a:t>hay nhưng</a:t>
            </a:r>
            <a:r>
              <a:rPr sz="1700" b="0" i="0">
                <a:solidFill>
                  <a:srgbClr val="C5D2E4"/>
                </a:solidFill>
                <a:latin typeface="Calibri"/>
              </a:rPr>
              <a:t> là đặc trưng của lớp trung tính</a:t>
            </a:r>
          </a:p>
          <a:p>
            <a:pPr marL="219456" indent="-219456">
              <a:lnSpc>
                <a:spcPct val="118000"/>
              </a:lnSpc>
              <a:spcAft>
                <a:spcPts val="2000"/>
              </a:spcAft>
              <a:buClr>
                <a:srgbClr val="2DD4BF"/>
              </a:buClr>
              <a:buFont typeface="Arial"/>
              <a:buChar char="•"/>
            </a:pPr>
            <a:r>
              <a:rPr sz="1700" b="1" i="0">
                <a:solidFill>
                  <a:srgbClr val="F2F6FB"/>
                </a:solidFill>
                <a:latin typeface="Calibri"/>
              </a:rPr>
              <a:t>Chủ đề: </a:t>
            </a:r>
            <a:r>
              <a:rPr sz="1700" b="0" i="0">
                <a:solidFill>
                  <a:srgbClr val="C5D2E4"/>
                </a:solidFill>
                <a:latin typeface="Calibri"/>
              </a:rPr>
              <a:t>mỗi bình luận đã tách từ thành một vector 768 chiều từ keepitreal/vietnamese-sbert (Sentence-BERT tiếng Việt; theo config.json trên Hugging Face, mô hình được tinh chỉnh từ PhoBERT-base, nên cần tách từ trước)</a:t>
            </a:r>
          </a:p>
          <a:p>
            <a:pPr marL="219456" indent="-219456">
              <a:lnSpc>
                <a:spcPct val="118000"/>
              </a:lnSpc>
              <a:spcAft>
                <a:spcPts val="2000"/>
              </a:spcAft>
              <a:buClr>
                <a:srgbClr val="2DD4BF"/>
              </a:buClr>
              <a:buFont typeface="Arial"/>
              <a:buChar char="•"/>
            </a:pPr>
            <a:r>
              <a:rPr sz="1700" b="0" i="0">
                <a:solidFill>
                  <a:srgbClr val="C5D2E4"/>
                </a:solidFill>
                <a:latin typeface="Calibri"/>
              </a:rPr>
              <a:t>Từ khóa của mỗi cụm chọn bằng c-TF-IDF: từ nào nhiều trong cụm này, ít ở cụm khác thì lên đầu (ví dụ số ở phụ lục)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evaluation_dark.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4 · MÔ HÌNH</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Bốn mô hình nền, dò C, chỉ trên tập huấn luyện</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9</a:t>
            </a:r>
          </a:p>
        </p:txBody>
      </p:sp>
      <p:graphicFrame>
        <p:nvGraphicFramePr>
          <p:cNvPr id="6" name="Table 5"/>
          <p:cNvGraphicFramePr>
            <a:graphicFrameLocks noGrp="1"/>
          </p:cNvGraphicFramePr>
          <p:nvPr/>
        </p:nvGraphicFramePr>
        <p:xfrm>
          <a:off x="731520" y="1847088"/>
          <a:ext cx="8778240" cy="2450592"/>
        </p:xfrm>
        <a:graphic>
          <a:graphicData uri="http://schemas.openxmlformats.org/drawingml/2006/table">
            <a:tbl>
              <a:tblPr>
                <a:tableStyleId>{2D5ABB26-0587-4C30-8999-92F81FD0307C}</a:tableStyleId>
              </a:tblPr>
              <a:tblGrid>
                <a:gridCol w="3840480"/>
                <a:gridCol w="2468880"/>
                <a:gridCol w="2468880"/>
              </a:tblGrid>
              <a:tr h="438912">
                <a:tc>
                  <a:txBody>
                    <a:bodyPr wrap="square"/>
                    <a:lstStyle/>
                    <a:p>
                      <a:pPr algn="l"/>
                      <a:r>
                        <a:rPr sz="1350" b="1" i="0">
                          <a:solidFill>
                            <a:srgbClr val="5EEAD4"/>
                          </a:solidFill>
                          <a:latin typeface="Calibri"/>
                        </a:rPr>
                        <a:t>Mô hình</a:t>
                      </a:r>
                    </a:p>
                  </a:txBody>
                  <a:tcPr anchor="ctr" marL="100584" marR="100584" marT="36576" marB="36576">
                    <a:solidFill>
                      <a:srgbClr val="12303A"/>
                    </a:solidFill>
                  </a:tcPr>
                </a:tc>
                <a:tc>
                  <a:txBody>
                    <a:bodyPr wrap="square"/>
                    <a:lstStyle/>
                    <a:p>
                      <a:pPr algn="r"/>
                      <a:r>
                        <a:rPr sz="1350" b="1" i="0">
                          <a:solidFill>
                            <a:srgbClr val="5EEAD4"/>
                          </a:solidFill>
                          <a:latin typeface="Calibri"/>
                        </a:rPr>
                        <a:t>Tỉ lệ dự đoán đúng (CV)</a:t>
                      </a:r>
                    </a:p>
                  </a:txBody>
                  <a:tcPr anchor="ctr" marL="100584" marR="100584" marT="36576" marB="36576">
                    <a:solidFill>
                      <a:srgbClr val="12303A"/>
                    </a:solidFill>
                  </a:tcPr>
                </a:tc>
                <a:tc>
                  <a:txBody>
                    <a:bodyPr wrap="square"/>
                    <a:lstStyle/>
                    <a:p>
                      <a:pPr algn="r"/>
                      <a:r>
                        <a:rPr sz="1350" b="1" i="0">
                          <a:solidFill>
                            <a:srgbClr val="5EEAD4"/>
                          </a:solidFill>
                          <a:latin typeface="Calibri"/>
                        </a:rPr>
                        <a:t>Macro-F1 (CV)</a:t>
                      </a:r>
                    </a:p>
                  </a:txBody>
                  <a:tcPr anchor="ctr" marL="100584" marR="100584" marT="36576" marB="36576">
                    <a:solidFill>
                      <a:srgbClr val="12303A"/>
                    </a:solidFill>
                  </a:tcPr>
                </a:tc>
              </a:tr>
              <a:tr h="402336">
                <a:tc>
                  <a:txBody>
                    <a:bodyPr wrap="square"/>
                    <a:lstStyle/>
                    <a:p>
                      <a:pPr algn="l"/>
                      <a:r>
                        <a:rPr sz="1350" b="0" i="0">
                          <a:solidFill>
                            <a:srgbClr val="C5D2E4"/>
                          </a:solidFill>
                          <a:latin typeface="Calibri"/>
                        </a:rPr>
                        <a:t>MostFrequent (đoán lớp đa số)</a:t>
                      </a:r>
                    </a:p>
                  </a:txBody>
                  <a:tcPr anchor="ctr" marL="100584" marR="100584" marT="36576" marB="36576">
                    <a:solidFill>
                      <a:srgbClr val="0E1929"/>
                    </a:solidFill>
                  </a:tcPr>
                </a:tc>
                <a:tc>
                  <a:txBody>
                    <a:bodyPr wrap="square"/>
                    <a:lstStyle/>
                    <a:p>
                      <a:pPr algn="r"/>
                      <a:r>
                        <a:rPr sz="1350" b="0" i="0">
                          <a:solidFill>
                            <a:srgbClr val="C5D2E4"/>
                          </a:solidFill>
                          <a:latin typeface="Calibri"/>
                        </a:rPr>
                        <a:t>47,95%</a:t>
                      </a:r>
                    </a:p>
                  </a:txBody>
                  <a:tcPr anchor="ctr" marL="100584" marR="100584" marT="36576" marB="36576">
                    <a:solidFill>
                      <a:srgbClr val="0E1929"/>
                    </a:solidFill>
                  </a:tcPr>
                </a:tc>
                <a:tc>
                  <a:txBody>
                    <a:bodyPr wrap="square"/>
                    <a:lstStyle/>
                    <a:p>
                      <a:pPr algn="r"/>
                      <a:r>
                        <a:rPr sz="1350" b="0" i="0">
                          <a:solidFill>
                            <a:srgbClr val="C5D2E4"/>
                          </a:solidFill>
                          <a:latin typeface="Calibri"/>
                        </a:rPr>
                        <a:t>0,2161</a:t>
                      </a:r>
                    </a:p>
                  </a:txBody>
                  <a:tcPr anchor="ctr" marL="100584" marR="100584" marT="36576" marB="36576">
                    <a:solidFill>
                      <a:srgbClr val="0E1929"/>
                    </a:solidFill>
                  </a:tcPr>
                </a:tc>
              </a:tr>
              <a:tr h="402336">
                <a:tc>
                  <a:txBody>
                    <a:bodyPr wrap="square"/>
                    <a:lstStyle/>
                    <a:p>
                      <a:pPr algn="l"/>
                      <a:r>
                        <a:rPr sz="1350" b="0" i="0">
                          <a:solidFill>
                            <a:srgbClr val="C5D2E4"/>
                          </a:solidFill>
                          <a:latin typeface="Calibri"/>
                        </a:rPr>
                        <a:t>MultinomialNB</a:t>
                      </a:r>
                    </a:p>
                  </a:txBody>
                  <a:tcPr anchor="ctr" marL="100584" marR="100584" marT="36576" marB="36576">
                    <a:solidFill>
                      <a:srgbClr val="121E30"/>
                    </a:solidFill>
                  </a:tcPr>
                </a:tc>
                <a:tc>
                  <a:txBody>
                    <a:bodyPr wrap="square"/>
                    <a:lstStyle/>
                    <a:p>
                      <a:pPr algn="r"/>
                      <a:r>
                        <a:rPr sz="1350" b="0" i="0">
                          <a:solidFill>
                            <a:srgbClr val="C5D2E4"/>
                          </a:solidFill>
                          <a:latin typeface="Calibri"/>
                        </a:rPr>
                        <a:t>73,82%</a:t>
                      </a:r>
                    </a:p>
                  </a:txBody>
                  <a:tcPr anchor="ctr" marL="100584" marR="100584" marT="36576" marB="36576">
                    <a:solidFill>
                      <a:srgbClr val="121E30"/>
                    </a:solidFill>
                  </a:tcPr>
                </a:tc>
                <a:tc>
                  <a:txBody>
                    <a:bodyPr wrap="square"/>
                    <a:lstStyle/>
                    <a:p>
                      <a:pPr algn="r"/>
                      <a:r>
                        <a:rPr sz="1350" b="0" i="0">
                          <a:solidFill>
                            <a:srgbClr val="C5D2E4"/>
                          </a:solidFill>
                          <a:latin typeface="Calibri"/>
                        </a:rPr>
                        <a:t>0,5620</a:t>
                      </a:r>
                    </a:p>
                  </a:txBody>
                  <a:tcPr anchor="ctr" marL="100584" marR="100584" marT="36576" marB="36576">
                    <a:solidFill>
                      <a:srgbClr val="121E30"/>
                    </a:solidFill>
                  </a:tcPr>
                </a:tc>
              </a:tr>
              <a:tr h="402336">
                <a:tc>
                  <a:txBody>
                    <a:bodyPr wrap="square"/>
                    <a:lstStyle/>
                    <a:p>
                      <a:pPr algn="l"/>
                      <a:r>
                        <a:rPr sz="1350" b="0" i="0">
                          <a:solidFill>
                            <a:srgbClr val="C5D2E4"/>
                          </a:solidFill>
                          <a:latin typeface="Calibri"/>
                        </a:rPr>
                        <a:t>LogisticRegression</a:t>
                      </a:r>
                    </a:p>
                  </a:txBody>
                  <a:tcPr anchor="ctr" marL="100584" marR="100584" marT="36576" marB="36576">
                    <a:solidFill>
                      <a:srgbClr val="0E1929"/>
                    </a:solidFill>
                  </a:tcPr>
                </a:tc>
                <a:tc>
                  <a:txBody>
                    <a:bodyPr wrap="square"/>
                    <a:lstStyle/>
                    <a:p>
                      <a:pPr algn="r"/>
                      <a:r>
                        <a:rPr sz="1350" b="0" i="0">
                          <a:solidFill>
                            <a:srgbClr val="C5D2E4"/>
                          </a:solidFill>
                          <a:latin typeface="Calibri"/>
                        </a:rPr>
                        <a:t>76,25%</a:t>
                      </a:r>
                    </a:p>
                  </a:txBody>
                  <a:tcPr anchor="ctr" marL="100584" marR="100584" marT="36576" marB="36576">
                    <a:solidFill>
                      <a:srgbClr val="0E1929"/>
                    </a:solidFill>
                  </a:tcPr>
                </a:tc>
                <a:tc>
                  <a:txBody>
                    <a:bodyPr wrap="square"/>
                    <a:lstStyle/>
                    <a:p>
                      <a:pPr algn="r"/>
                      <a:r>
                        <a:rPr sz="1350" b="0" i="0">
                          <a:solidFill>
                            <a:srgbClr val="C5D2E4"/>
                          </a:solidFill>
                          <a:latin typeface="Calibri"/>
                        </a:rPr>
                        <a:t>0,7170 ± 0,0054</a:t>
                      </a:r>
                    </a:p>
                  </a:txBody>
                  <a:tcPr anchor="ctr" marL="100584" marR="100584" marT="36576" marB="36576">
                    <a:solidFill>
                      <a:srgbClr val="0E1929"/>
                    </a:solidFill>
                  </a:tcPr>
                </a:tc>
              </a:tr>
              <a:tr h="402336">
                <a:tc>
                  <a:txBody>
                    <a:bodyPr wrap="square"/>
                    <a:lstStyle/>
                    <a:p>
                      <a:pPr algn="l"/>
                      <a:r>
                        <a:rPr sz="1350" b="0" i="0">
                          <a:solidFill>
                            <a:srgbClr val="C5D2E4"/>
                          </a:solidFill>
                          <a:latin typeface="Calibri"/>
                        </a:rPr>
                        <a:t>LinearSVC, C = 1</a:t>
                      </a:r>
                    </a:p>
                  </a:txBody>
                  <a:tcPr anchor="ctr" marL="100584" marR="100584" marT="36576" marB="36576">
                    <a:solidFill>
                      <a:srgbClr val="121E30"/>
                    </a:solidFill>
                  </a:tcPr>
                </a:tc>
                <a:tc>
                  <a:txBody>
                    <a:bodyPr wrap="square"/>
                    <a:lstStyle/>
                    <a:p>
                      <a:pPr algn="r"/>
                      <a:r>
                        <a:rPr sz="1350" b="0" i="0">
                          <a:solidFill>
                            <a:srgbClr val="C5D2E4"/>
                          </a:solidFill>
                          <a:latin typeface="Calibri"/>
                        </a:rPr>
                        <a:t>76,56%</a:t>
                      </a:r>
                    </a:p>
                  </a:txBody>
                  <a:tcPr anchor="ctr" marL="100584" marR="100584" marT="36576" marB="36576">
                    <a:solidFill>
                      <a:srgbClr val="121E30"/>
                    </a:solidFill>
                  </a:tcPr>
                </a:tc>
                <a:tc>
                  <a:txBody>
                    <a:bodyPr wrap="square"/>
                    <a:lstStyle/>
                    <a:p>
                      <a:pPr algn="r"/>
                      <a:r>
                        <a:rPr sz="1350" b="0" i="0">
                          <a:solidFill>
                            <a:srgbClr val="C5D2E4"/>
                          </a:solidFill>
                          <a:latin typeface="Calibri"/>
                        </a:rPr>
                        <a:t>0,7054 ± 0,0095</a:t>
                      </a:r>
                    </a:p>
                  </a:txBody>
                  <a:tcPr anchor="ctr" marL="100584" marR="100584" marT="36576" marB="36576">
                    <a:solidFill>
                      <a:srgbClr val="121E30"/>
                    </a:solidFill>
                  </a:tcPr>
                </a:tc>
              </a:tr>
              <a:tr h="402336">
                <a:tc>
                  <a:txBody>
                    <a:bodyPr wrap="square"/>
                    <a:lstStyle/>
                    <a:p>
                      <a:pPr algn="l"/>
                      <a:r>
                        <a:rPr sz="1350" b="1" i="0">
                          <a:solidFill>
                            <a:srgbClr val="F2F6FB"/>
                          </a:solidFill>
                          <a:latin typeface="Calibri"/>
                        </a:rPr>
                        <a:t>LinearSVC, C = 0,3 (đã dò)</a:t>
                      </a:r>
                    </a:p>
                  </a:txBody>
                  <a:tcPr anchor="ctr" marL="100584" marR="100584" marT="36576" marB="36576">
                    <a:solidFill>
                      <a:srgbClr val="12303A"/>
                    </a:solidFill>
                  </a:tcPr>
                </a:tc>
                <a:tc>
                  <a:txBody>
                    <a:bodyPr wrap="square"/>
                    <a:lstStyle/>
                    <a:p>
                      <a:pPr algn="r"/>
                      <a:r>
                        <a:rPr sz="1350" b="1" i="0">
                          <a:solidFill>
                            <a:srgbClr val="F2F6FB"/>
                          </a:solidFill>
                          <a:latin typeface="Calibri"/>
                        </a:rPr>
                        <a:t>77,49%</a:t>
                      </a:r>
                    </a:p>
                  </a:txBody>
                  <a:tcPr anchor="ctr" marL="100584" marR="100584" marT="36576" marB="36576">
                    <a:solidFill>
                      <a:srgbClr val="12303A"/>
                    </a:solidFill>
                  </a:tcPr>
                </a:tc>
                <a:tc>
                  <a:txBody>
                    <a:bodyPr wrap="square"/>
                    <a:lstStyle/>
                    <a:p>
                      <a:pPr algn="r"/>
                      <a:r>
                        <a:rPr sz="1350" b="1" i="0">
                          <a:solidFill>
                            <a:srgbClr val="F2F6FB"/>
                          </a:solidFill>
                          <a:latin typeface="Calibri"/>
                        </a:rPr>
                        <a:t>0,7180 ± 0,0066</a:t>
                      </a:r>
                    </a:p>
                  </a:txBody>
                  <a:tcPr anchor="ctr" marL="100584" marR="100584" marT="36576" marB="36576">
                    <a:solidFill>
                      <a:srgbClr val="12303A"/>
                    </a:solidFill>
                  </a:tcPr>
                </a:tc>
              </a:tr>
            </a:tbl>
          </a:graphicData>
        </a:graphic>
      </p:graphicFrame>
      <p:sp>
        <p:nvSpPr>
          <p:cNvPr id="7" name="TextBox 6"/>
          <p:cNvSpPr txBox="1"/>
          <p:nvPr/>
        </p:nvSpPr>
        <p:spPr>
          <a:xfrm>
            <a:off x="731520" y="4553712"/>
            <a:ext cx="10728655" cy="1664207"/>
          </a:xfrm>
          <a:prstGeom prst="rect">
            <a:avLst/>
          </a:prstGeom>
          <a:noFill/>
        </p:spPr>
        <p:txBody>
          <a:bodyPr wrap="square" lIns="0" rIns="0" tIns="0" bIns="0">
            <a:spAutoFit/>
          </a:bodyPr>
          <a:lstStyle/>
          <a:p>
            <a:pPr marL="219456" indent="-219456">
              <a:lnSpc>
                <a:spcPct val="118000"/>
              </a:lnSpc>
              <a:spcAft>
                <a:spcPts val="1400"/>
              </a:spcAft>
              <a:buClr>
                <a:srgbClr val="2DD4BF"/>
              </a:buClr>
              <a:buFont typeface="Arial"/>
              <a:buChar char="•"/>
            </a:pPr>
            <a:r>
              <a:rPr sz="1600" b="0" i="0">
                <a:solidFill>
                  <a:srgbClr val="C5D2E4"/>
                </a:solidFill>
                <a:latin typeface="Calibri"/>
              </a:rPr>
              <a:t>Cross-validation 5-fold phân tầng trên 15.997 dòng huấn luyện, class_weight balanced</a:t>
            </a:r>
          </a:p>
          <a:p>
            <a:pPr marL="219456" indent="-219456">
              <a:lnSpc>
                <a:spcPct val="118000"/>
              </a:lnSpc>
              <a:spcAft>
                <a:spcPts val="1400"/>
              </a:spcAft>
              <a:buClr>
                <a:srgbClr val="2DD4BF"/>
              </a:buClr>
              <a:buFont typeface="Arial"/>
              <a:buChar char="•"/>
            </a:pPr>
            <a:r>
              <a:rPr sz="1600" b="0" i="0">
                <a:solidFill>
                  <a:srgbClr val="C5D2E4"/>
                </a:solidFill>
                <a:latin typeface="Calibri"/>
              </a:rPr>
              <a:t>Lưới C theo macro-F1: 0,1 cho 0,7124 · 0,3 cho 0,7180 · 1,0 cho 0,7054 · 3,0 cho 0,6875</a:t>
            </a:r>
          </a:p>
          <a:p>
            <a:pPr marL="219456" indent="-219456">
              <a:lnSpc>
                <a:spcPct val="118000"/>
              </a:lnSpc>
              <a:spcAft>
                <a:spcPts val="1400"/>
              </a:spcAft>
              <a:buClr>
                <a:srgbClr val="2DD4BF"/>
              </a:buClr>
              <a:buFont typeface="Arial"/>
              <a:buChar char="•"/>
            </a:pPr>
            <a:r>
              <a:rPr sz="1600" b="0" i="0">
                <a:solidFill>
                  <a:srgbClr val="C5D2E4"/>
                </a:solidFill>
                <a:latin typeface="Calibri"/>
              </a:rPr>
              <a:t>LinearSVC hơn LogisticRegression 0,0010, nhỏ hơn độ lệch chuẩn giữa các fold: hai mô hình ngang nhau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5 · KẾT QUẢ</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Macro-F1 0,7161; lớp trung tính là điểm yếu</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10</a:t>
            </a:r>
          </a:p>
        </p:txBody>
      </p:sp>
      <p:graphicFrame>
        <p:nvGraphicFramePr>
          <p:cNvPr id="6" name="Table 5"/>
          <p:cNvGraphicFramePr>
            <a:graphicFrameLocks noGrp="1"/>
          </p:cNvGraphicFramePr>
          <p:nvPr/>
        </p:nvGraphicFramePr>
        <p:xfrm>
          <a:off x="731520" y="1901952"/>
          <a:ext cx="5120640" cy="2084832"/>
        </p:xfrm>
        <a:graphic>
          <a:graphicData uri="http://schemas.openxmlformats.org/drawingml/2006/table">
            <a:tbl>
              <a:tblPr>
                <a:tableStyleId>{2D5ABB26-0587-4C30-8999-92F81FD0307C}</a:tableStyleId>
              </a:tblPr>
              <a:tblGrid>
                <a:gridCol w="2011680"/>
                <a:gridCol w="1143000"/>
                <a:gridCol w="1005840"/>
                <a:gridCol w="960120"/>
              </a:tblGrid>
              <a:tr h="548640">
                <a:tc>
                  <a:txBody>
                    <a:bodyPr wrap="square"/>
                    <a:lstStyle/>
                    <a:p>
                      <a:pPr algn="l"/>
                      <a:r>
                        <a:rPr sz="1450" b="1" i="0">
                          <a:solidFill>
                            <a:srgbClr val="5EEAD4"/>
                          </a:solidFill>
                          <a:latin typeface="Calibri"/>
                        </a:rPr>
                        <a:t>Lớp</a:t>
                      </a:r>
                    </a:p>
                  </a:txBody>
                  <a:tcPr anchor="ctr" marL="100584" marR="100584" marT="36576" marB="36576">
                    <a:solidFill>
                      <a:srgbClr val="12303A"/>
                    </a:solidFill>
                  </a:tcPr>
                </a:tc>
                <a:tc>
                  <a:txBody>
                    <a:bodyPr wrap="square"/>
                    <a:lstStyle/>
                    <a:p>
                      <a:pPr algn="r"/>
                      <a:r>
                        <a:rPr sz="1450" b="1" i="0">
                          <a:solidFill>
                            <a:srgbClr val="5EEAD4"/>
                          </a:solidFill>
                          <a:latin typeface="Calibri"/>
                        </a:rPr>
                        <a:t>Độ chính xác</a:t>
                      </a:r>
                    </a:p>
                  </a:txBody>
                  <a:tcPr anchor="ctr" marL="100584" marR="100584" marT="36576" marB="36576">
                    <a:solidFill>
                      <a:srgbClr val="12303A"/>
                    </a:solidFill>
                  </a:tcPr>
                </a:tc>
                <a:tc>
                  <a:txBody>
                    <a:bodyPr wrap="square"/>
                    <a:lstStyle/>
                    <a:p>
                      <a:pPr algn="r"/>
                      <a:r>
                        <a:rPr sz="1450" b="1" i="0">
                          <a:solidFill>
                            <a:srgbClr val="5EEAD4"/>
                          </a:solidFill>
                          <a:latin typeface="Calibri"/>
                        </a:rPr>
                        <a:t>Độ phủ</a:t>
                      </a:r>
                    </a:p>
                  </a:txBody>
                  <a:tcPr anchor="ctr" marL="100584" marR="100584" marT="36576" marB="36576">
                    <a:solidFill>
                      <a:srgbClr val="12303A"/>
                    </a:solidFill>
                  </a:tcPr>
                </a:tc>
                <a:tc>
                  <a:txBody>
                    <a:bodyPr wrap="square"/>
                    <a:lstStyle/>
                    <a:p>
                      <a:pPr algn="r"/>
                      <a:r>
                        <a:rPr sz="1450" b="1" i="0">
                          <a:solidFill>
                            <a:srgbClr val="5EEAD4"/>
                          </a:solidFill>
                          <a:latin typeface="Calibri"/>
                        </a:rPr>
                        <a:t>F1</a:t>
                      </a:r>
                    </a:p>
                  </a:txBody>
                  <a:tcPr anchor="ctr" marL="100584" marR="100584" marT="36576" marB="36576">
                    <a:solidFill>
                      <a:srgbClr val="12303A"/>
                    </a:solidFill>
                  </a:tcPr>
                </a:tc>
              </a:tr>
              <a:tr h="512064">
                <a:tc>
                  <a:txBody>
                    <a:bodyPr wrap="square"/>
                    <a:lstStyle/>
                    <a:p>
                      <a:pPr algn="l"/>
                      <a:r>
                        <a:rPr sz="1450" b="0" i="0">
                          <a:solidFill>
                            <a:srgbClr val="C5D2E4"/>
                          </a:solidFill>
                          <a:latin typeface="Calibri"/>
                        </a:rPr>
                        <a:t>Tiêu cực (1.400)</a:t>
                      </a:r>
                    </a:p>
                  </a:txBody>
                  <a:tcPr anchor="ctr" marL="100584" marR="100584" marT="36576" marB="36576">
                    <a:solidFill>
                      <a:srgbClr val="0E1929"/>
                    </a:solidFill>
                  </a:tcPr>
                </a:tc>
                <a:tc>
                  <a:txBody>
                    <a:bodyPr wrap="square"/>
                    <a:lstStyle/>
                    <a:p>
                      <a:pPr algn="r"/>
                      <a:r>
                        <a:rPr sz="1450" b="0" i="0">
                          <a:solidFill>
                            <a:srgbClr val="C5D2E4"/>
                          </a:solidFill>
                          <a:latin typeface="Calibri"/>
                        </a:rPr>
                        <a:t>0,7458</a:t>
                      </a:r>
                    </a:p>
                  </a:txBody>
                  <a:tcPr anchor="ctr" marL="100584" marR="100584" marT="36576" marB="36576">
                    <a:solidFill>
                      <a:srgbClr val="0E1929"/>
                    </a:solidFill>
                  </a:tcPr>
                </a:tc>
                <a:tc>
                  <a:txBody>
                    <a:bodyPr wrap="square"/>
                    <a:lstStyle/>
                    <a:p>
                      <a:pPr algn="r"/>
                      <a:r>
                        <a:rPr sz="1450" b="0" i="0">
                          <a:solidFill>
                            <a:srgbClr val="C5D2E4"/>
                          </a:solidFill>
                          <a:latin typeface="Calibri"/>
                        </a:rPr>
                        <a:t>0,7564</a:t>
                      </a:r>
                    </a:p>
                  </a:txBody>
                  <a:tcPr anchor="ctr" marL="100584" marR="100584" marT="36576" marB="36576">
                    <a:solidFill>
                      <a:srgbClr val="0E1929"/>
                    </a:solidFill>
                  </a:tcPr>
                </a:tc>
                <a:tc>
                  <a:txBody>
                    <a:bodyPr wrap="square"/>
                    <a:lstStyle/>
                    <a:p>
                      <a:pPr algn="r"/>
                      <a:r>
                        <a:rPr sz="1450" b="0" i="0">
                          <a:solidFill>
                            <a:srgbClr val="C5D2E4"/>
                          </a:solidFill>
                          <a:latin typeface="Calibri"/>
                        </a:rPr>
                        <a:t>0,7511</a:t>
                      </a:r>
                    </a:p>
                  </a:txBody>
                  <a:tcPr anchor="ctr" marL="100584" marR="100584" marT="36576" marB="36576">
                    <a:solidFill>
                      <a:srgbClr val="0E1929"/>
                    </a:solidFill>
                  </a:tcPr>
                </a:tc>
              </a:tr>
              <a:tr h="512064">
                <a:tc>
                  <a:txBody>
                    <a:bodyPr wrap="square"/>
                    <a:lstStyle/>
                    <a:p>
                      <a:pPr algn="l"/>
                      <a:r>
                        <a:rPr sz="1450" b="1" i="0">
                          <a:solidFill>
                            <a:srgbClr val="F2F6FB"/>
                          </a:solidFill>
                          <a:latin typeface="Calibri"/>
                        </a:rPr>
                        <a:t>Trung tính (682)</a:t>
                      </a:r>
                    </a:p>
                  </a:txBody>
                  <a:tcPr anchor="ctr" marL="100584" marR="100584" marT="36576" marB="36576">
                    <a:solidFill>
                      <a:srgbClr val="12303A"/>
                    </a:solidFill>
                  </a:tcPr>
                </a:tc>
                <a:tc>
                  <a:txBody>
                    <a:bodyPr wrap="square"/>
                    <a:lstStyle/>
                    <a:p>
                      <a:pPr algn="r"/>
                      <a:r>
                        <a:rPr sz="1450" b="1" i="0">
                          <a:solidFill>
                            <a:srgbClr val="F2F6FB"/>
                          </a:solidFill>
                          <a:latin typeface="Calibri"/>
                        </a:rPr>
                        <a:t>0,5270</a:t>
                      </a:r>
                    </a:p>
                  </a:txBody>
                  <a:tcPr anchor="ctr" marL="100584" marR="100584" marT="36576" marB="36576">
                    <a:solidFill>
                      <a:srgbClr val="12303A"/>
                    </a:solidFill>
                  </a:tcPr>
                </a:tc>
                <a:tc>
                  <a:txBody>
                    <a:bodyPr wrap="square"/>
                    <a:lstStyle/>
                    <a:p>
                      <a:pPr algn="r"/>
                      <a:r>
                        <a:rPr sz="1450" b="1" i="0">
                          <a:solidFill>
                            <a:srgbClr val="F2F6FB"/>
                          </a:solidFill>
                          <a:latin typeface="Calibri"/>
                        </a:rPr>
                        <a:t>0,5440</a:t>
                      </a:r>
                    </a:p>
                  </a:txBody>
                  <a:tcPr anchor="ctr" marL="100584" marR="100584" marT="36576" marB="36576">
                    <a:solidFill>
                      <a:srgbClr val="12303A"/>
                    </a:solidFill>
                  </a:tcPr>
                </a:tc>
                <a:tc>
                  <a:txBody>
                    <a:bodyPr wrap="square"/>
                    <a:lstStyle/>
                    <a:p>
                      <a:pPr algn="r"/>
                      <a:r>
                        <a:rPr sz="1450" b="1" i="0">
                          <a:solidFill>
                            <a:srgbClr val="F2F6FB"/>
                          </a:solidFill>
                          <a:latin typeface="Calibri"/>
                        </a:rPr>
                        <a:t>0,5354</a:t>
                      </a:r>
                    </a:p>
                  </a:txBody>
                  <a:tcPr anchor="ctr" marL="100584" marR="100584" marT="36576" marB="36576">
                    <a:solidFill>
                      <a:srgbClr val="12303A"/>
                    </a:solidFill>
                  </a:tcPr>
                </a:tc>
              </a:tr>
              <a:tr h="512064">
                <a:tc>
                  <a:txBody>
                    <a:bodyPr wrap="square"/>
                    <a:lstStyle/>
                    <a:p>
                      <a:pPr algn="l"/>
                      <a:r>
                        <a:rPr sz="1450" b="0" i="0">
                          <a:solidFill>
                            <a:srgbClr val="C5D2E4"/>
                          </a:solidFill>
                          <a:latin typeface="Calibri"/>
                        </a:rPr>
                        <a:t>Tích cực (1.918)</a:t>
                      </a:r>
                    </a:p>
                  </a:txBody>
                  <a:tcPr anchor="ctr" marL="100584" marR="100584" marT="36576" marB="36576">
                    <a:solidFill>
                      <a:srgbClr val="0E1929"/>
                    </a:solidFill>
                  </a:tcPr>
                </a:tc>
                <a:tc>
                  <a:txBody>
                    <a:bodyPr wrap="square"/>
                    <a:lstStyle/>
                    <a:p>
                      <a:pPr algn="r"/>
                      <a:r>
                        <a:rPr sz="1450" b="0" i="0">
                          <a:solidFill>
                            <a:srgbClr val="C5D2E4"/>
                          </a:solidFill>
                          <a:latin typeface="Calibri"/>
                        </a:rPr>
                        <a:t>0,8715</a:t>
                      </a:r>
                    </a:p>
                  </a:txBody>
                  <a:tcPr anchor="ctr" marL="100584" marR="100584" marT="36576" marB="36576">
                    <a:solidFill>
                      <a:srgbClr val="0E1929"/>
                    </a:solidFill>
                  </a:tcPr>
                </a:tc>
                <a:tc>
                  <a:txBody>
                    <a:bodyPr wrap="square"/>
                    <a:lstStyle/>
                    <a:p>
                      <a:pPr algn="r"/>
                      <a:r>
                        <a:rPr sz="1450" b="0" i="0">
                          <a:solidFill>
                            <a:srgbClr val="C5D2E4"/>
                          </a:solidFill>
                          <a:latin typeface="Calibri"/>
                        </a:rPr>
                        <a:t>0,8525</a:t>
                      </a:r>
                    </a:p>
                  </a:txBody>
                  <a:tcPr anchor="ctr" marL="100584" marR="100584" marT="36576" marB="36576">
                    <a:solidFill>
                      <a:srgbClr val="0E1929"/>
                    </a:solidFill>
                  </a:tcPr>
                </a:tc>
                <a:tc>
                  <a:txBody>
                    <a:bodyPr wrap="square"/>
                    <a:lstStyle/>
                    <a:p>
                      <a:pPr algn="r"/>
                      <a:r>
                        <a:rPr sz="1450" b="0" i="0">
                          <a:solidFill>
                            <a:srgbClr val="C5D2E4"/>
                          </a:solidFill>
                          <a:latin typeface="Calibri"/>
                        </a:rPr>
                        <a:t>0,8619</a:t>
                      </a:r>
                    </a:p>
                  </a:txBody>
                  <a:tcPr anchor="ctr" marL="100584" marR="100584" marT="36576" marB="36576">
                    <a:solidFill>
                      <a:srgbClr val="0E1929"/>
                    </a:solidFill>
                  </a:tcPr>
                </a:tc>
              </a:tr>
            </a:tbl>
          </a:graphicData>
        </a:graphic>
      </p:graphicFrame>
      <p:pic>
        <p:nvPicPr>
          <p:cNvPr id="7" name="Picture 6" descr="confusion_dark.png"/>
          <p:cNvPicPr>
            <a:picLocks noChangeAspect="1"/>
          </p:cNvPicPr>
          <p:nvPr/>
        </p:nvPicPr>
        <p:blipFill>
          <a:blip r:embed="rId2"/>
          <a:stretch>
            <a:fillRect/>
          </a:stretch>
        </p:blipFill>
        <p:spPr>
          <a:xfrm>
            <a:off x="6108192" y="1810512"/>
            <a:ext cx="5257800" cy="4423092"/>
          </a:xfrm>
          <a:prstGeom prst="rect">
            <a:avLst/>
          </a:prstGeom>
        </p:spPr>
      </p:pic>
      <p:sp>
        <p:nvSpPr>
          <p:cNvPr id="8" name="TextBox 7"/>
          <p:cNvSpPr txBox="1"/>
          <p:nvPr/>
        </p:nvSpPr>
        <p:spPr>
          <a:xfrm>
            <a:off x="731520" y="4133087"/>
            <a:ext cx="5440680" cy="2084832"/>
          </a:xfrm>
          <a:prstGeom prst="rect">
            <a:avLst/>
          </a:prstGeom>
          <a:noFill/>
        </p:spPr>
        <p:txBody>
          <a:bodyPr wrap="square" lIns="0" rIns="0" tIns="0" bIns="0">
            <a:spAutoFit/>
          </a:bodyPr>
          <a:lstStyle/>
          <a:p>
            <a:pPr marL="219456" indent="-219456">
              <a:lnSpc>
                <a:spcPct val="118000"/>
              </a:lnSpc>
              <a:spcAft>
                <a:spcPts val="1600"/>
              </a:spcAft>
              <a:buClr>
                <a:srgbClr val="2DD4BF"/>
              </a:buClr>
              <a:buFont typeface="Arial"/>
              <a:buChar char="•"/>
            </a:pPr>
            <a:r>
              <a:rPr sz="1500" b="0" i="0">
                <a:solidFill>
                  <a:srgbClr val="C5D2E4"/>
                </a:solidFill>
                <a:latin typeface="Calibri"/>
              </a:rPr>
              <a:t>Tỉ lệ dự đoán đúng 76,62% và macro-F1 0,7161 trên 4.000 dòng, chấm một lần; độ chính xác là precision, độ phủ là recall</a:t>
            </a:r>
          </a:p>
          <a:p>
            <a:pPr marL="219456" indent="-219456">
              <a:lnSpc>
                <a:spcPct val="118000"/>
              </a:lnSpc>
              <a:spcAft>
                <a:spcPts val="1600"/>
              </a:spcAft>
              <a:buClr>
                <a:srgbClr val="2DD4BF"/>
              </a:buClr>
              <a:buFont typeface="Arial"/>
              <a:buChar char="•"/>
            </a:pPr>
            <a:r>
              <a:rPr sz="1500" b="0" i="0">
                <a:solidFill>
                  <a:srgbClr val="C5D2E4"/>
                </a:solidFill>
                <a:latin typeface="Calibri"/>
              </a:rPr>
              <a:t>Năm hạt giống 0 đến 4: 77,58% ± 0,44 và macro-F1 0,7200 ± 0,0037</a:t>
            </a:r>
          </a:p>
          <a:p>
            <a:pPr marL="219456" indent="-219456">
              <a:lnSpc>
                <a:spcPct val="118000"/>
              </a:lnSpc>
              <a:spcAft>
                <a:spcPts val="1600"/>
              </a:spcAft>
              <a:buClr>
                <a:srgbClr val="2DD4BF"/>
              </a:buClr>
              <a:buFont typeface="Arial"/>
              <a:buChar char="•"/>
            </a:pPr>
            <a:r>
              <a:rPr sz="1500" b="0" i="0">
                <a:solidFill>
                  <a:srgbClr val="C5D2E4"/>
                </a:solidFill>
                <a:latin typeface="Calibri"/>
              </a:rPr>
              <a:t>Trung tính: đúng 371/682; 203 bị gán tiêu cực, 108 bị gán tích cực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4 · CHỦ ĐỀ</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Tham số HDBSCAN quyết định hơn cả từ dừng</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11</a:t>
            </a:r>
          </a:p>
        </p:txBody>
      </p:sp>
      <p:graphicFrame>
        <p:nvGraphicFramePr>
          <p:cNvPr id="6" name="Table 5"/>
          <p:cNvGraphicFramePr>
            <a:graphicFrameLocks noGrp="1"/>
          </p:cNvGraphicFramePr>
          <p:nvPr/>
        </p:nvGraphicFramePr>
        <p:xfrm>
          <a:off x="731520" y="1847088"/>
          <a:ext cx="10765231" cy="2395728"/>
        </p:xfrm>
        <a:graphic>
          <a:graphicData uri="http://schemas.openxmlformats.org/drawingml/2006/table">
            <a:tbl>
              <a:tblPr>
                <a:tableStyleId>{2D5ABB26-0587-4C30-8999-92F81FD0307C}</a:tableStyleId>
              </a:tblPr>
              <a:tblGrid>
                <a:gridCol w="2834640"/>
                <a:gridCol w="1600200"/>
                <a:gridCol w="1600200"/>
                <a:gridCol w="1234440"/>
                <a:gridCol w="1737360"/>
                <a:gridCol w="1758391"/>
              </a:tblGrid>
              <a:tr h="429768">
                <a:tc>
                  <a:txBody>
                    <a:bodyPr wrap="square"/>
                    <a:lstStyle/>
                    <a:p>
                      <a:pPr algn="l"/>
                      <a:r>
                        <a:rPr sz="1300" b="1" i="0">
                          <a:solidFill>
                            <a:srgbClr val="5EEAD4"/>
                          </a:solidFill>
                          <a:latin typeface="Calibri"/>
                        </a:rPr>
                        <a:t>Chọn cụm</a:t>
                      </a:r>
                    </a:p>
                  </a:txBody>
                  <a:tcPr anchor="ctr" marL="100584" marR="100584" marT="36576" marB="36576">
                    <a:solidFill>
                      <a:srgbClr val="12303A"/>
                    </a:solidFill>
                  </a:tcPr>
                </a:tc>
                <a:tc>
                  <a:txBody>
                    <a:bodyPr wrap="square"/>
                    <a:lstStyle/>
                    <a:p>
                      <a:pPr algn="r"/>
                      <a:r>
                        <a:rPr sz="1300" b="1" i="0">
                          <a:solidFill>
                            <a:srgbClr val="5EEAD4"/>
                          </a:solidFill>
                          <a:latin typeface="Calibri"/>
                        </a:rPr>
                        <a:t>Cụm tối thiểu</a:t>
                      </a:r>
                    </a:p>
                  </a:txBody>
                  <a:tcPr anchor="ctr" marL="100584" marR="100584" marT="36576" marB="36576">
                    <a:solidFill>
                      <a:srgbClr val="12303A"/>
                    </a:solidFill>
                  </a:tcPr>
                </a:tc>
                <a:tc>
                  <a:txBody>
                    <a:bodyPr wrap="square"/>
                    <a:lstStyle/>
                    <a:p>
                      <a:pPr algn="r"/>
                      <a:r>
                        <a:rPr sz="1300" b="1" i="0">
                          <a:solidFill>
                            <a:srgbClr val="5EEAD4"/>
                          </a:solidFill>
                          <a:latin typeface="Calibri"/>
                        </a:rPr>
                        <a:t>min_samples</a:t>
                      </a:r>
                    </a:p>
                  </a:txBody>
                  <a:tcPr anchor="ctr" marL="100584" marR="100584" marT="36576" marB="36576">
                    <a:solidFill>
                      <a:srgbClr val="12303A"/>
                    </a:solidFill>
                  </a:tcPr>
                </a:tc>
                <a:tc>
                  <a:txBody>
                    <a:bodyPr wrap="square"/>
                    <a:lstStyle/>
                    <a:p>
                      <a:pPr algn="r"/>
                      <a:r>
                        <a:rPr sz="1300" b="1" i="0">
                          <a:solidFill>
                            <a:srgbClr val="5EEAD4"/>
                          </a:solidFill>
                          <a:latin typeface="Calibri"/>
                        </a:rPr>
                        <a:t>Chủ đề</a:t>
                      </a:r>
                    </a:p>
                  </a:txBody>
                  <a:tcPr anchor="ctr" marL="100584" marR="100584" marT="36576" marB="36576">
                    <a:solidFill>
                      <a:srgbClr val="12303A"/>
                    </a:solidFill>
                  </a:tcPr>
                </a:tc>
                <a:tc>
                  <a:txBody>
                    <a:bodyPr wrap="square"/>
                    <a:lstStyle/>
                    <a:p>
                      <a:pPr algn="r"/>
                      <a:r>
                        <a:rPr sz="1300" b="1" i="0">
                          <a:solidFill>
                            <a:srgbClr val="5EEAD4"/>
                          </a:solidFill>
                          <a:latin typeface="Calibri"/>
                        </a:rPr>
                        <a:t>Nhiễu (-1)</a:t>
                      </a:r>
                    </a:p>
                  </a:txBody>
                  <a:tcPr anchor="ctr" marL="100584" marR="100584" marT="36576" marB="36576">
                    <a:solidFill>
                      <a:srgbClr val="12303A"/>
                    </a:solidFill>
                  </a:tcPr>
                </a:tc>
                <a:tc>
                  <a:txBody>
                    <a:bodyPr wrap="square"/>
                    <a:lstStyle/>
                    <a:p>
                      <a:pPr algn="r"/>
                      <a:r>
                        <a:rPr sz="1300" b="1" i="0">
                          <a:solidFill>
                            <a:srgbClr val="5EEAD4"/>
                          </a:solidFill>
                          <a:latin typeface="Calibri"/>
                        </a:rPr>
                        <a:t>Cụm lớn nhất</a:t>
                      </a:r>
                    </a:p>
                  </a:txBody>
                  <a:tcPr anchor="ctr" marL="100584" marR="100584" marT="36576" marB="36576">
                    <a:solidFill>
                      <a:srgbClr val="12303A"/>
                    </a:solidFill>
                  </a:tcPr>
                </a:tc>
              </a:tr>
              <a:tr h="393192">
                <a:tc>
                  <a:txBody>
                    <a:bodyPr wrap="square"/>
                    <a:lstStyle/>
                    <a:p>
                      <a:pPr algn="l"/>
                      <a:r>
                        <a:rPr sz="1300" b="0" i="0">
                          <a:solidFill>
                            <a:srgbClr val="C5D2E4"/>
                          </a:solidFill>
                          <a:latin typeface="Calibri"/>
                        </a:rPr>
                        <a:t>eom (mặc định BERTopic)</a:t>
                      </a:r>
                    </a:p>
                  </a:txBody>
                  <a:tcPr anchor="ctr" marL="100584" marR="100584" marT="36576" marB="36576">
                    <a:solidFill>
                      <a:srgbClr val="0E1929"/>
                    </a:solidFill>
                  </a:tcPr>
                </a:tc>
                <a:tc>
                  <a:txBody>
                    <a:bodyPr wrap="square"/>
                    <a:lstStyle/>
                    <a:p>
                      <a:pPr algn="r"/>
                      <a:r>
                        <a:rPr sz="1300" b="0" i="0">
                          <a:solidFill>
                            <a:srgbClr val="C5D2E4"/>
                          </a:solidFill>
                          <a:latin typeface="Calibri"/>
                        </a:rPr>
                        <a:t>10</a:t>
                      </a:r>
                    </a:p>
                  </a:txBody>
                  <a:tcPr anchor="ctr" marL="100584" marR="100584" marT="36576" marB="36576">
                    <a:solidFill>
                      <a:srgbClr val="0E1929"/>
                    </a:solidFill>
                  </a:tcPr>
                </a:tc>
                <a:tc>
                  <a:txBody>
                    <a:bodyPr wrap="square"/>
                    <a:lstStyle/>
                    <a:p>
                      <a:pPr algn="r"/>
                      <a:r>
                        <a:rPr sz="1300" b="0" i="0">
                          <a:solidFill>
                            <a:srgbClr val="C5D2E4"/>
                          </a:solidFill>
                          <a:latin typeface="Calibri"/>
                        </a:rPr>
                        <a:t>mặc định</a:t>
                      </a:r>
                    </a:p>
                  </a:txBody>
                  <a:tcPr anchor="ctr" marL="100584" marR="100584" marT="36576" marB="36576">
                    <a:solidFill>
                      <a:srgbClr val="0E1929"/>
                    </a:solidFill>
                  </a:tcPr>
                </a:tc>
                <a:tc>
                  <a:txBody>
                    <a:bodyPr wrap="square"/>
                    <a:lstStyle/>
                    <a:p>
                      <a:pPr algn="r"/>
                      <a:r>
                        <a:rPr sz="1300" b="0" i="0">
                          <a:solidFill>
                            <a:srgbClr val="C5D2E4"/>
                          </a:solidFill>
                          <a:latin typeface="Calibri"/>
                        </a:rPr>
                        <a:t>23</a:t>
                      </a:r>
                    </a:p>
                  </a:txBody>
                  <a:tcPr anchor="ctr" marL="100584" marR="100584" marT="36576" marB="36576">
                    <a:solidFill>
                      <a:srgbClr val="0E1929"/>
                    </a:solidFill>
                  </a:tcPr>
                </a:tc>
                <a:tc>
                  <a:txBody>
                    <a:bodyPr wrap="square"/>
                    <a:lstStyle/>
                    <a:p>
                      <a:pPr algn="r"/>
                      <a:r>
                        <a:rPr sz="1300" b="0" i="0">
                          <a:solidFill>
                            <a:srgbClr val="C5D2E4"/>
                          </a:solidFill>
                          <a:latin typeface="Calibri"/>
                        </a:rPr>
                        <a:t>735 (49,2%)</a:t>
                      </a:r>
                    </a:p>
                  </a:txBody>
                  <a:tcPr anchor="ctr" marL="100584" marR="100584" marT="36576" marB="36576">
                    <a:solidFill>
                      <a:srgbClr val="0E1929"/>
                    </a:solidFill>
                  </a:tcPr>
                </a:tc>
                <a:tc>
                  <a:txBody>
                    <a:bodyPr wrap="square"/>
                    <a:lstStyle/>
                    <a:p>
                      <a:pPr algn="r"/>
                      <a:r>
                        <a:rPr sz="1300" b="0" i="0">
                          <a:solidFill>
                            <a:srgbClr val="C5D2E4"/>
                          </a:solidFill>
                          <a:latin typeface="Calibri"/>
                        </a:rPr>
                        <a:t>81 (5,4%)</a:t>
                      </a:r>
                    </a:p>
                  </a:txBody>
                  <a:tcPr anchor="ctr" marL="100584" marR="100584" marT="36576" marB="36576">
                    <a:solidFill>
                      <a:srgbClr val="0E1929"/>
                    </a:solidFill>
                  </a:tcPr>
                </a:tc>
              </a:tr>
              <a:tr h="393192">
                <a:tc>
                  <a:txBody>
                    <a:bodyPr wrap="square"/>
                    <a:lstStyle/>
                    <a:p>
                      <a:pPr algn="l"/>
                      <a:r>
                        <a:rPr sz="1300" b="0" i="0">
                          <a:solidFill>
                            <a:srgbClr val="C5D2E4"/>
                          </a:solidFill>
                          <a:latin typeface="Calibri"/>
                        </a:rPr>
                        <a:t>eom</a:t>
                      </a:r>
                    </a:p>
                  </a:txBody>
                  <a:tcPr anchor="ctr" marL="100584" marR="100584" marT="36576" marB="36576">
                    <a:solidFill>
                      <a:srgbClr val="121E30"/>
                    </a:solidFill>
                  </a:tcPr>
                </a:tc>
                <a:tc>
                  <a:txBody>
                    <a:bodyPr wrap="square"/>
                    <a:lstStyle/>
                    <a:p>
                      <a:pPr algn="r"/>
                      <a:r>
                        <a:rPr sz="1300" b="0" i="0">
                          <a:solidFill>
                            <a:srgbClr val="C5D2E4"/>
                          </a:solidFill>
                          <a:latin typeface="Calibri"/>
                        </a:rPr>
                        <a:t>20</a:t>
                      </a:r>
                    </a:p>
                  </a:txBody>
                  <a:tcPr anchor="ctr" marL="100584" marR="100584" marT="36576" marB="36576">
                    <a:solidFill>
                      <a:srgbClr val="121E30"/>
                    </a:solidFill>
                  </a:tcPr>
                </a:tc>
                <a:tc>
                  <a:txBody>
                    <a:bodyPr wrap="square"/>
                    <a:lstStyle/>
                    <a:p>
                      <a:pPr algn="r"/>
                      <a:r>
                        <a:rPr sz="1300" b="0" i="0">
                          <a:solidFill>
                            <a:srgbClr val="C5D2E4"/>
                          </a:solidFill>
                          <a:latin typeface="Calibri"/>
                        </a:rPr>
                        <a:t>5</a:t>
                      </a:r>
                    </a:p>
                  </a:txBody>
                  <a:tcPr anchor="ctr" marL="100584" marR="100584" marT="36576" marB="36576">
                    <a:solidFill>
                      <a:srgbClr val="121E30"/>
                    </a:solidFill>
                  </a:tcPr>
                </a:tc>
                <a:tc>
                  <a:txBody>
                    <a:bodyPr wrap="square"/>
                    <a:lstStyle/>
                    <a:p>
                      <a:pPr algn="r"/>
                      <a:r>
                        <a:rPr sz="1300" b="0" i="0">
                          <a:solidFill>
                            <a:srgbClr val="C5D2E4"/>
                          </a:solidFill>
                          <a:latin typeface="Calibri"/>
                        </a:rPr>
                        <a:t>3</a:t>
                      </a:r>
                    </a:p>
                  </a:txBody>
                  <a:tcPr anchor="ctr" marL="100584" marR="100584" marT="36576" marB="36576">
                    <a:solidFill>
                      <a:srgbClr val="121E30"/>
                    </a:solidFill>
                  </a:tcPr>
                </a:tc>
                <a:tc>
                  <a:txBody>
                    <a:bodyPr wrap="square"/>
                    <a:lstStyle/>
                    <a:p>
                      <a:pPr algn="r"/>
                      <a:r>
                        <a:rPr sz="1300" b="0" i="0">
                          <a:solidFill>
                            <a:srgbClr val="C5D2E4"/>
                          </a:solidFill>
                          <a:latin typeface="Calibri"/>
                        </a:rPr>
                        <a:t>0 (0%)</a:t>
                      </a:r>
                    </a:p>
                  </a:txBody>
                  <a:tcPr anchor="ctr" marL="100584" marR="100584" marT="36576" marB="36576">
                    <a:solidFill>
                      <a:srgbClr val="121E30"/>
                    </a:solidFill>
                  </a:tcPr>
                </a:tc>
                <a:tc>
                  <a:txBody>
                    <a:bodyPr wrap="square"/>
                    <a:lstStyle/>
                    <a:p>
                      <a:pPr algn="r"/>
                      <a:r>
                        <a:rPr sz="1300" b="0" i="0">
                          <a:solidFill>
                            <a:srgbClr val="C5D2E4"/>
                          </a:solidFill>
                          <a:latin typeface="Calibri"/>
                        </a:rPr>
                        <a:t>1.359 (91,0%)</a:t>
                      </a:r>
                    </a:p>
                  </a:txBody>
                  <a:tcPr anchor="ctr" marL="100584" marR="100584" marT="36576" marB="36576">
                    <a:solidFill>
                      <a:srgbClr val="121E30"/>
                    </a:solidFill>
                  </a:tcPr>
                </a:tc>
              </a:tr>
              <a:tr h="393192">
                <a:tc>
                  <a:txBody>
                    <a:bodyPr wrap="square"/>
                    <a:lstStyle/>
                    <a:p>
                      <a:pPr algn="l"/>
                      <a:r>
                        <a:rPr sz="1300" b="1" i="0">
                          <a:solidFill>
                            <a:srgbClr val="F2F6FB"/>
                          </a:solidFill>
                          <a:latin typeface="Calibri"/>
                        </a:rPr>
                        <a:t>eom (chọn dùng)</a:t>
                      </a:r>
                    </a:p>
                  </a:txBody>
                  <a:tcPr anchor="ctr" marL="100584" marR="100584" marT="36576" marB="36576">
                    <a:solidFill>
                      <a:srgbClr val="12303A"/>
                    </a:solidFill>
                  </a:tcPr>
                </a:tc>
                <a:tc>
                  <a:txBody>
                    <a:bodyPr wrap="square"/>
                    <a:lstStyle/>
                    <a:p>
                      <a:pPr algn="r"/>
                      <a:r>
                        <a:rPr sz="1300" b="1" i="0">
                          <a:solidFill>
                            <a:srgbClr val="F2F6FB"/>
                          </a:solidFill>
                          <a:latin typeface="Calibri"/>
                        </a:rPr>
                        <a:t>15</a:t>
                      </a:r>
                    </a:p>
                  </a:txBody>
                  <a:tcPr anchor="ctr" marL="100584" marR="100584" marT="36576" marB="36576">
                    <a:solidFill>
                      <a:srgbClr val="12303A"/>
                    </a:solidFill>
                  </a:tcPr>
                </a:tc>
                <a:tc>
                  <a:txBody>
                    <a:bodyPr wrap="square"/>
                    <a:lstStyle/>
                    <a:p>
                      <a:pPr algn="r"/>
                      <a:r>
                        <a:rPr sz="1300" b="1" i="0">
                          <a:solidFill>
                            <a:srgbClr val="F2F6FB"/>
                          </a:solidFill>
                          <a:latin typeface="Calibri"/>
                        </a:rPr>
                        <a:t>1</a:t>
                      </a:r>
                    </a:p>
                  </a:txBody>
                  <a:tcPr anchor="ctr" marL="100584" marR="100584" marT="36576" marB="36576">
                    <a:solidFill>
                      <a:srgbClr val="12303A"/>
                    </a:solidFill>
                  </a:tcPr>
                </a:tc>
                <a:tc>
                  <a:txBody>
                    <a:bodyPr wrap="square"/>
                    <a:lstStyle/>
                    <a:p>
                      <a:pPr algn="r"/>
                      <a:r>
                        <a:rPr sz="1300" b="1" i="0">
                          <a:solidFill>
                            <a:srgbClr val="F2F6FB"/>
                          </a:solidFill>
                          <a:latin typeface="Calibri"/>
                        </a:rPr>
                        <a:t>26</a:t>
                      </a:r>
                    </a:p>
                  </a:txBody>
                  <a:tcPr anchor="ctr" marL="100584" marR="100584" marT="36576" marB="36576">
                    <a:solidFill>
                      <a:srgbClr val="12303A"/>
                    </a:solidFill>
                  </a:tcPr>
                </a:tc>
                <a:tc>
                  <a:txBody>
                    <a:bodyPr wrap="square"/>
                    <a:lstStyle/>
                    <a:p>
                      <a:pPr algn="r"/>
                      <a:r>
                        <a:rPr sz="1300" b="1" i="0">
                          <a:solidFill>
                            <a:srgbClr val="F2F6FB"/>
                          </a:solidFill>
                          <a:latin typeface="Calibri"/>
                        </a:rPr>
                        <a:t>497 (33,3%)</a:t>
                      </a:r>
                    </a:p>
                  </a:txBody>
                  <a:tcPr anchor="ctr" marL="100584" marR="100584" marT="36576" marB="36576">
                    <a:solidFill>
                      <a:srgbClr val="12303A"/>
                    </a:solidFill>
                  </a:tcPr>
                </a:tc>
                <a:tc>
                  <a:txBody>
                    <a:bodyPr wrap="square"/>
                    <a:lstStyle/>
                    <a:p>
                      <a:pPr algn="r"/>
                      <a:r>
                        <a:rPr sz="1300" b="1" i="0">
                          <a:solidFill>
                            <a:srgbClr val="F2F6FB"/>
                          </a:solidFill>
                          <a:latin typeface="Calibri"/>
                        </a:rPr>
                        <a:t>117 (7,8%)</a:t>
                      </a:r>
                    </a:p>
                  </a:txBody>
                  <a:tcPr anchor="ctr" marL="100584" marR="100584" marT="36576" marB="36576">
                    <a:solidFill>
                      <a:srgbClr val="12303A"/>
                    </a:solidFill>
                  </a:tcPr>
                </a:tc>
              </a:tr>
              <a:tr h="393192">
                <a:tc>
                  <a:txBody>
                    <a:bodyPr wrap="square"/>
                    <a:lstStyle/>
                    <a:p>
                      <a:pPr algn="l"/>
                      <a:r>
                        <a:rPr sz="1300" b="0" i="0">
                          <a:solidFill>
                            <a:srgbClr val="C5D2E4"/>
                          </a:solidFill>
                          <a:latin typeface="Calibri"/>
                        </a:rPr>
                        <a:t>leaf</a:t>
                      </a:r>
                    </a:p>
                  </a:txBody>
                  <a:tcPr anchor="ctr" marL="100584" marR="100584" marT="36576" marB="36576">
                    <a:solidFill>
                      <a:srgbClr val="121E30"/>
                    </a:solidFill>
                  </a:tcPr>
                </a:tc>
                <a:tc>
                  <a:txBody>
                    <a:bodyPr wrap="square"/>
                    <a:lstStyle/>
                    <a:p>
                      <a:pPr algn="r"/>
                      <a:r>
                        <a:rPr sz="1300" b="0" i="0">
                          <a:solidFill>
                            <a:srgbClr val="C5D2E4"/>
                          </a:solidFill>
                          <a:latin typeface="Calibri"/>
                        </a:rPr>
                        <a:t>10</a:t>
                      </a:r>
                    </a:p>
                  </a:txBody>
                  <a:tcPr anchor="ctr" marL="100584" marR="100584" marT="36576" marB="36576">
                    <a:solidFill>
                      <a:srgbClr val="121E30"/>
                    </a:solidFill>
                  </a:tcPr>
                </a:tc>
                <a:tc>
                  <a:txBody>
                    <a:bodyPr wrap="square"/>
                    <a:lstStyle/>
                    <a:p>
                      <a:pPr algn="r"/>
                      <a:r>
                        <a:rPr sz="1300" b="0" i="0">
                          <a:solidFill>
                            <a:srgbClr val="C5D2E4"/>
                          </a:solidFill>
                          <a:latin typeface="Calibri"/>
                        </a:rPr>
                        <a:t>mặc định</a:t>
                      </a:r>
                    </a:p>
                  </a:txBody>
                  <a:tcPr anchor="ctr" marL="100584" marR="100584" marT="36576" marB="36576">
                    <a:solidFill>
                      <a:srgbClr val="121E30"/>
                    </a:solidFill>
                  </a:tcPr>
                </a:tc>
                <a:tc>
                  <a:txBody>
                    <a:bodyPr wrap="square"/>
                    <a:lstStyle/>
                    <a:p>
                      <a:pPr algn="r"/>
                      <a:r>
                        <a:rPr sz="1300" b="0" i="0">
                          <a:solidFill>
                            <a:srgbClr val="C5D2E4"/>
                          </a:solidFill>
                          <a:latin typeface="Calibri"/>
                        </a:rPr>
                        <a:t>27</a:t>
                      </a:r>
                    </a:p>
                  </a:txBody>
                  <a:tcPr anchor="ctr" marL="100584" marR="100584" marT="36576" marB="36576">
                    <a:solidFill>
                      <a:srgbClr val="121E30"/>
                    </a:solidFill>
                  </a:tcPr>
                </a:tc>
                <a:tc>
                  <a:txBody>
                    <a:bodyPr wrap="square"/>
                    <a:lstStyle/>
                    <a:p>
                      <a:pPr algn="r"/>
                      <a:r>
                        <a:rPr sz="1300" b="0" i="0">
                          <a:solidFill>
                            <a:srgbClr val="C5D2E4"/>
                          </a:solidFill>
                          <a:latin typeface="Calibri"/>
                        </a:rPr>
                        <a:t>793 (53,1%)</a:t>
                      </a:r>
                    </a:p>
                  </a:txBody>
                  <a:tcPr anchor="ctr" marL="100584" marR="100584" marT="36576" marB="36576">
                    <a:solidFill>
                      <a:srgbClr val="121E30"/>
                    </a:solidFill>
                  </a:tcPr>
                </a:tc>
                <a:tc>
                  <a:txBody>
                    <a:bodyPr wrap="square"/>
                    <a:lstStyle/>
                    <a:p>
                      <a:pPr algn="r"/>
                      <a:r>
                        <a:rPr sz="1300" b="0" i="0">
                          <a:solidFill>
                            <a:srgbClr val="C5D2E4"/>
                          </a:solidFill>
                          <a:latin typeface="Calibri"/>
                        </a:rPr>
                        <a:t>80 (5,4%)</a:t>
                      </a:r>
                    </a:p>
                  </a:txBody>
                  <a:tcPr anchor="ctr" marL="100584" marR="100584" marT="36576" marB="36576">
                    <a:solidFill>
                      <a:srgbClr val="121E30"/>
                    </a:solidFill>
                  </a:tcPr>
                </a:tc>
              </a:tr>
              <a:tr h="393192">
                <a:tc>
                  <a:txBody>
                    <a:bodyPr wrap="square"/>
                    <a:lstStyle/>
                    <a:p>
                      <a:pPr algn="l"/>
                      <a:r>
                        <a:rPr sz="1300" b="0" i="0">
                          <a:solidFill>
                            <a:srgbClr val="C5D2E4"/>
                          </a:solidFill>
                          <a:latin typeface="Calibri"/>
                        </a:rPr>
                        <a:t>leaf</a:t>
                      </a:r>
                    </a:p>
                  </a:txBody>
                  <a:tcPr anchor="ctr" marL="100584" marR="100584" marT="36576" marB="36576">
                    <a:solidFill>
                      <a:srgbClr val="0E1929"/>
                    </a:solidFill>
                  </a:tcPr>
                </a:tc>
                <a:tc>
                  <a:txBody>
                    <a:bodyPr wrap="square"/>
                    <a:lstStyle/>
                    <a:p>
                      <a:pPr algn="r"/>
                      <a:r>
                        <a:rPr sz="1300" b="0" i="0">
                          <a:solidFill>
                            <a:srgbClr val="C5D2E4"/>
                          </a:solidFill>
                          <a:latin typeface="Calibri"/>
                        </a:rPr>
                        <a:t>20</a:t>
                      </a:r>
                    </a:p>
                  </a:txBody>
                  <a:tcPr anchor="ctr" marL="100584" marR="100584" marT="36576" marB="36576">
                    <a:solidFill>
                      <a:srgbClr val="0E1929"/>
                    </a:solidFill>
                  </a:tcPr>
                </a:tc>
                <a:tc>
                  <a:txBody>
                    <a:bodyPr wrap="square"/>
                    <a:lstStyle/>
                    <a:p>
                      <a:pPr algn="r"/>
                      <a:r>
                        <a:rPr sz="1300" b="0" i="0">
                          <a:solidFill>
                            <a:srgbClr val="C5D2E4"/>
                          </a:solidFill>
                          <a:latin typeface="Calibri"/>
                        </a:rPr>
                        <a:t>5</a:t>
                      </a:r>
                    </a:p>
                  </a:txBody>
                  <a:tcPr anchor="ctr" marL="100584" marR="100584" marT="36576" marB="36576">
                    <a:solidFill>
                      <a:srgbClr val="0E1929"/>
                    </a:solidFill>
                  </a:tcPr>
                </a:tc>
                <a:tc>
                  <a:txBody>
                    <a:bodyPr wrap="square"/>
                    <a:lstStyle/>
                    <a:p>
                      <a:pPr algn="r"/>
                      <a:r>
                        <a:rPr sz="1300" b="0" i="0">
                          <a:solidFill>
                            <a:srgbClr val="C5D2E4"/>
                          </a:solidFill>
                          <a:latin typeface="Calibri"/>
                        </a:rPr>
                        <a:t>19</a:t>
                      </a:r>
                    </a:p>
                  </a:txBody>
                  <a:tcPr anchor="ctr" marL="100584" marR="100584" marT="36576" marB="36576">
                    <a:solidFill>
                      <a:srgbClr val="0E1929"/>
                    </a:solidFill>
                  </a:tcPr>
                </a:tc>
                <a:tc>
                  <a:txBody>
                    <a:bodyPr wrap="square"/>
                    <a:lstStyle/>
                    <a:p>
                      <a:pPr algn="r"/>
                      <a:r>
                        <a:rPr sz="1300" b="0" i="0">
                          <a:solidFill>
                            <a:srgbClr val="C5D2E4"/>
                          </a:solidFill>
                          <a:latin typeface="Calibri"/>
                        </a:rPr>
                        <a:t>620 (41,5%)</a:t>
                      </a:r>
                    </a:p>
                  </a:txBody>
                  <a:tcPr anchor="ctr" marL="100584" marR="100584" marT="36576" marB="36576">
                    <a:solidFill>
                      <a:srgbClr val="0E1929"/>
                    </a:solidFill>
                  </a:tcPr>
                </a:tc>
                <a:tc>
                  <a:txBody>
                    <a:bodyPr wrap="square"/>
                    <a:lstStyle/>
                    <a:p>
                      <a:pPr algn="r"/>
                      <a:r>
                        <a:rPr sz="1300" b="0" i="0">
                          <a:solidFill>
                            <a:srgbClr val="C5D2E4"/>
                          </a:solidFill>
                          <a:latin typeface="Calibri"/>
                        </a:rPr>
                        <a:t>94 (6,3%)</a:t>
                      </a:r>
                    </a:p>
                  </a:txBody>
                  <a:tcPr anchor="ctr" marL="100584" marR="100584" marT="36576" marB="36576">
                    <a:solidFill>
                      <a:srgbClr val="0E1929"/>
                    </a:solidFill>
                  </a:tcPr>
                </a:tc>
              </a:tr>
            </a:tbl>
          </a:graphicData>
        </a:graphic>
      </p:graphicFrame>
      <p:sp>
        <p:nvSpPr>
          <p:cNvPr id="7" name="TextBox 6"/>
          <p:cNvSpPr txBox="1"/>
          <p:nvPr/>
        </p:nvSpPr>
        <p:spPr>
          <a:xfrm>
            <a:off x="731520" y="4462272"/>
            <a:ext cx="10728655" cy="1755648"/>
          </a:xfrm>
          <a:prstGeom prst="rect">
            <a:avLst/>
          </a:prstGeom>
          <a:noFill/>
        </p:spPr>
        <p:txBody>
          <a:bodyPr wrap="square" lIns="0" rIns="0" tIns="0" bIns="0">
            <a:spAutoFit/>
          </a:bodyPr>
          <a:lstStyle/>
          <a:p>
            <a:pPr marL="219456" indent="-219456">
              <a:lnSpc>
                <a:spcPct val="118000"/>
              </a:lnSpc>
              <a:spcAft>
                <a:spcPts val="1400"/>
              </a:spcAft>
              <a:buClr>
                <a:srgbClr val="2DD4BF"/>
              </a:buClr>
              <a:buFont typeface="Arial"/>
              <a:buChar char="•"/>
            </a:pPr>
            <a:r>
              <a:rPr sz="1550" b="0" i="0">
                <a:solidFill>
                  <a:srgbClr val="C5D2E4"/>
                </a:solidFill>
                <a:latin typeface="Calibri"/>
              </a:rPr>
              <a:t>Khảo sát trên 1.493 bình luận của tập dữ liệu (1.500 dòng đầu), không phải bình luận của một video thật</a:t>
            </a:r>
          </a:p>
          <a:p>
            <a:pPr marL="219456" indent="-219456">
              <a:lnSpc>
                <a:spcPct val="118000"/>
              </a:lnSpc>
              <a:spcAft>
                <a:spcPts val="1400"/>
              </a:spcAft>
              <a:buClr>
                <a:srgbClr val="2DD4BF"/>
              </a:buClr>
              <a:buFont typeface="Arial"/>
              <a:buChar char="•"/>
            </a:pPr>
            <a:r>
              <a:rPr sz="1550" b="0" i="0">
                <a:solidFill>
                  <a:srgbClr val="C5D2E4"/>
                </a:solidFill>
                <a:latin typeface="Calibri"/>
              </a:rPr>
              <a:t>Mặc định đẩy gần nửa vào nhiễu; min_samples 5 gom 91% vào một cụm; 15/1 cân bằng nhất và là mặc định của ứng dụng</a:t>
            </a:r>
          </a:p>
          <a:p>
            <a:pPr marL="219456" indent="-219456">
              <a:lnSpc>
                <a:spcPct val="118000"/>
              </a:lnSpc>
              <a:spcAft>
                <a:spcPts val="1400"/>
              </a:spcAft>
              <a:buClr>
                <a:srgbClr val="2DD4BF"/>
              </a:buClr>
              <a:buFont typeface="Arial"/>
              <a:buChar char="•"/>
            </a:pPr>
            <a:r>
              <a:rPr sz="1550" b="0" i="0">
                <a:solidFill>
                  <a:srgbClr val="C5D2E4"/>
                </a:solidFill>
                <a:latin typeface="Calibri"/>
              </a:rPr>
              <a:t>Bật hay tắt từ dừng cho phép gán chủ đề giống hệt từng dòng, chỉ từ khóa đổi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ỨNG DỤNG</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Năm tab, ba nguồn dữ liệu, không cần API key để chấm</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12</a:t>
            </a:r>
          </a:p>
        </p:txBody>
      </p:sp>
      <p:pic>
        <p:nvPicPr>
          <p:cNvPr id="6" name="Picture 5" descr="03_tab_tong_quan.png"/>
          <p:cNvPicPr>
            <a:picLocks noChangeAspect="1"/>
          </p:cNvPicPr>
          <p:nvPr/>
        </p:nvPicPr>
        <p:blipFill>
          <a:blip r:embed="rId2"/>
          <a:stretch>
            <a:fillRect/>
          </a:stretch>
        </p:blipFill>
        <p:spPr>
          <a:xfrm>
            <a:off x="5577840" y="1847088"/>
            <a:ext cx="5879592" cy="3674745"/>
          </a:xfrm>
          <a:prstGeom prst="rect">
            <a:avLst/>
          </a:prstGeom>
          <a:ln w="9525">
            <a:solidFill>
              <a:srgbClr val="253750"/>
            </a:solidFill>
          </a:ln>
        </p:spPr>
      </p:pic>
      <p:sp>
        <p:nvSpPr>
          <p:cNvPr id="7" name="TextBox 6"/>
          <p:cNvSpPr txBox="1"/>
          <p:nvPr/>
        </p:nvSpPr>
        <p:spPr>
          <a:xfrm>
            <a:off x="731520" y="1901952"/>
            <a:ext cx="4617720" cy="4315968"/>
          </a:xfrm>
          <a:prstGeom prst="rect">
            <a:avLst/>
          </a:prstGeom>
          <a:noFill/>
        </p:spPr>
        <p:txBody>
          <a:bodyPr wrap="square" lIns="0" rIns="0" tIns="0" bIns="0">
            <a:spAutoFit/>
          </a:bodyPr>
          <a:lstStyle/>
          <a:p>
            <a:pPr marL="219456" indent="-219456">
              <a:lnSpc>
                <a:spcPct val="118000"/>
              </a:lnSpc>
              <a:spcAft>
                <a:spcPts val="2000"/>
              </a:spcAft>
              <a:buClr>
                <a:srgbClr val="2DD4BF"/>
              </a:buClr>
              <a:buFont typeface="Arial"/>
              <a:buChar char="•"/>
            </a:pPr>
            <a:r>
              <a:rPr sz="1600" b="1" i="0">
                <a:solidFill>
                  <a:srgbClr val="F2F6FB"/>
                </a:solidFill>
                <a:latin typeface="Calibri"/>
              </a:rPr>
              <a:t>Ba nguồn: </a:t>
            </a:r>
            <a:r>
              <a:rPr sz="1600" b="0" i="0">
                <a:solidFill>
                  <a:srgbClr val="C5D2E4"/>
                </a:solidFill>
                <a:latin typeface="Calibri"/>
              </a:rPr>
              <a:t>Link YouTube (cần API key), Tệp CSV, Dữ liệu mẫu</a:t>
            </a:r>
          </a:p>
          <a:p>
            <a:pPr marL="219456" indent="-219456">
              <a:lnSpc>
                <a:spcPct val="118000"/>
              </a:lnSpc>
              <a:spcAft>
                <a:spcPts val="2000"/>
              </a:spcAft>
              <a:buClr>
                <a:srgbClr val="2DD4BF"/>
              </a:buClr>
              <a:buFont typeface="Arial"/>
              <a:buChar char="•"/>
            </a:pPr>
            <a:r>
              <a:rPr sz="1600" b="1" i="0">
                <a:solidFill>
                  <a:srgbClr val="F2F6FB"/>
                </a:solidFill>
                <a:latin typeface="Calibri"/>
              </a:rPr>
              <a:t>Năm tab: </a:t>
            </a:r>
            <a:r>
              <a:rPr sz="1600" b="0" i="0">
                <a:solidFill>
                  <a:srgbClr val="C5D2E4"/>
                </a:solidFill>
                <a:latin typeface="Calibri"/>
              </a:rPr>
              <a:t>Tổng quan, Chủ đề, Cảm xúc, Dữ liệu, Mô hình</a:t>
            </a:r>
          </a:p>
          <a:p>
            <a:pPr marL="219456" indent="-219456">
              <a:lnSpc>
                <a:spcPct val="118000"/>
              </a:lnSpc>
              <a:spcAft>
                <a:spcPts val="2000"/>
              </a:spcAft>
              <a:buClr>
                <a:srgbClr val="2DD4BF"/>
              </a:buClr>
              <a:buFont typeface="Arial"/>
              <a:buChar char="•"/>
            </a:pPr>
            <a:r>
              <a:rPr sz="1600" b="0" i="0">
                <a:solidFill>
                  <a:srgbClr val="C5D2E4"/>
                </a:solidFill>
                <a:latin typeface="Calibri"/>
              </a:rPr>
              <a:t>Bình luận và vector nhúng được cache; đổi tab hay lọc bảng không chạy lại</a:t>
            </a:r>
          </a:p>
          <a:p>
            <a:pPr marL="219456" indent="-219456">
              <a:lnSpc>
                <a:spcPct val="118000"/>
              </a:lnSpc>
              <a:spcAft>
                <a:spcPts val="2000"/>
              </a:spcAft>
              <a:buClr>
                <a:srgbClr val="2DD4BF"/>
              </a:buClr>
              <a:buFont typeface="Arial"/>
              <a:buChar char="•"/>
            </a:pPr>
            <a:r>
              <a:rPr sz="1600" b="0" i="0">
                <a:solidFill>
                  <a:srgbClr val="C5D2E4"/>
                </a:solidFill>
                <a:latin typeface="Calibri"/>
              </a:rPr>
              <a:t>Ảnh: 1.000 dòng mẫu, 23 chủ đề, 20,6% nhiễu, 47,4% tích cực (tập huấn luyện, nên tỉ lệ cảm xúc lạc quan hơn thực tế)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BƯỚC 5 · PHÂN TÍCH LỖI</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150 bình luận sai, xếp theo hiện tượng ngôn ngữ</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13</a:t>
            </a:r>
          </a:p>
        </p:txBody>
      </p:sp>
      <p:graphicFrame>
        <p:nvGraphicFramePr>
          <p:cNvPr id="6" name="Table 5"/>
          <p:cNvGraphicFramePr>
            <a:graphicFrameLocks noGrp="1"/>
          </p:cNvGraphicFramePr>
          <p:nvPr/>
        </p:nvGraphicFramePr>
        <p:xfrm>
          <a:off x="731520" y="1810512"/>
          <a:ext cx="7223760" cy="4151376"/>
        </p:xfrm>
        <a:graphic>
          <a:graphicData uri="http://schemas.openxmlformats.org/drawingml/2006/table">
            <a:tbl>
              <a:tblPr>
                <a:tableStyleId>{2D5ABB26-0587-4C30-8999-92F81FD0307C}</a:tableStyleId>
              </a:tblPr>
              <a:tblGrid>
                <a:gridCol w="3200400"/>
                <a:gridCol w="822960"/>
                <a:gridCol w="1097280"/>
                <a:gridCol w="1097280"/>
                <a:gridCol w="1005840"/>
              </a:tblGrid>
              <a:tr h="493776">
                <a:tc>
                  <a:txBody>
                    <a:bodyPr wrap="square"/>
                    <a:lstStyle/>
                    <a:p>
                      <a:pPr algn="l"/>
                      <a:r>
                        <a:rPr sz="1400" b="1" i="0">
                          <a:solidFill>
                            <a:srgbClr val="5EEAD4"/>
                          </a:solidFill>
                          <a:latin typeface="Calibri"/>
                        </a:rPr>
                        <a:t>Hiện tượng</a:t>
                      </a:r>
                    </a:p>
                  </a:txBody>
                  <a:tcPr anchor="ctr" marL="100584" marR="100584" marT="36576" marB="36576">
                    <a:solidFill>
                      <a:srgbClr val="12303A"/>
                    </a:solidFill>
                  </a:tcPr>
                </a:tc>
                <a:tc>
                  <a:txBody>
                    <a:bodyPr wrap="square"/>
                    <a:lstStyle/>
                    <a:p>
                      <a:pPr algn="r"/>
                      <a:r>
                        <a:rPr sz="1400" b="1" i="0">
                          <a:solidFill>
                            <a:srgbClr val="5EEAD4"/>
                          </a:solidFill>
                          <a:latin typeface="Calibri"/>
                        </a:rPr>
                        <a:t>n</a:t>
                      </a:r>
                    </a:p>
                  </a:txBody>
                  <a:tcPr anchor="ctr" marL="100584" marR="100584" marT="36576" marB="36576">
                    <a:solidFill>
                      <a:srgbClr val="12303A"/>
                    </a:solidFill>
                  </a:tcPr>
                </a:tc>
                <a:tc>
                  <a:txBody>
                    <a:bodyPr wrap="square"/>
                    <a:lstStyle/>
                    <a:p>
                      <a:pPr algn="r"/>
                      <a:r>
                        <a:rPr sz="1400" b="1" i="0">
                          <a:solidFill>
                            <a:srgbClr val="5EEAD4"/>
                          </a:solidFill>
                          <a:latin typeface="Calibri"/>
                        </a:rPr>
                        <a:t>Tiêu cực</a:t>
                      </a:r>
                    </a:p>
                  </a:txBody>
                  <a:tcPr anchor="ctr" marL="100584" marR="100584" marT="36576" marB="36576">
                    <a:solidFill>
                      <a:srgbClr val="12303A"/>
                    </a:solidFill>
                  </a:tcPr>
                </a:tc>
                <a:tc>
                  <a:txBody>
                    <a:bodyPr wrap="square"/>
                    <a:lstStyle/>
                    <a:p>
                      <a:pPr algn="r"/>
                      <a:r>
                        <a:rPr sz="1400" b="1" i="0">
                          <a:solidFill>
                            <a:srgbClr val="5EEAD4"/>
                          </a:solidFill>
                          <a:latin typeface="Calibri"/>
                        </a:rPr>
                        <a:t>Trung tính</a:t>
                      </a:r>
                    </a:p>
                  </a:txBody>
                  <a:tcPr anchor="ctr" marL="100584" marR="100584" marT="36576" marB="36576">
                    <a:solidFill>
                      <a:srgbClr val="12303A"/>
                    </a:solidFill>
                  </a:tcPr>
                </a:tc>
                <a:tc>
                  <a:txBody>
                    <a:bodyPr wrap="square"/>
                    <a:lstStyle/>
                    <a:p>
                      <a:pPr algn="r"/>
                      <a:r>
                        <a:rPr sz="1400" b="1" i="0">
                          <a:solidFill>
                            <a:srgbClr val="5EEAD4"/>
                          </a:solidFill>
                          <a:latin typeface="Calibri"/>
                        </a:rPr>
                        <a:t>Tích cực</a:t>
                      </a:r>
                    </a:p>
                  </a:txBody>
                  <a:tcPr anchor="ctr" marL="100584" marR="100584" marT="36576" marB="36576">
                    <a:solidFill>
                      <a:srgbClr val="12303A"/>
                    </a:solidFill>
                  </a:tcPr>
                </a:tc>
              </a:tr>
              <a:tr h="457200">
                <a:tc>
                  <a:txBody>
                    <a:bodyPr wrap="square"/>
                    <a:lstStyle/>
                    <a:p>
                      <a:pPr algn="l"/>
                      <a:r>
                        <a:rPr sz="1400" b="0" i="0">
                          <a:solidFill>
                            <a:srgbClr val="C5D2E4"/>
                          </a:solidFill>
                          <a:latin typeface="Calibri"/>
                        </a:rPr>
                        <a:t>Cần ngữ cảnh chương trình</a:t>
                      </a:r>
                    </a:p>
                  </a:txBody>
                  <a:tcPr anchor="ctr" marL="100584" marR="100584" marT="36576" marB="36576">
                    <a:solidFill>
                      <a:srgbClr val="0E1929"/>
                    </a:solidFill>
                  </a:tcPr>
                </a:tc>
                <a:tc>
                  <a:txBody>
                    <a:bodyPr wrap="square"/>
                    <a:lstStyle/>
                    <a:p>
                      <a:pPr algn="r"/>
                      <a:r>
                        <a:rPr sz="1400" b="0" i="0">
                          <a:solidFill>
                            <a:srgbClr val="C5D2E4"/>
                          </a:solidFill>
                          <a:latin typeface="Calibri"/>
                        </a:rPr>
                        <a:t>36</a:t>
                      </a:r>
                    </a:p>
                  </a:txBody>
                  <a:tcPr anchor="ctr" marL="100584" marR="100584" marT="36576" marB="36576">
                    <a:solidFill>
                      <a:srgbClr val="0E1929"/>
                    </a:solidFill>
                  </a:tcPr>
                </a:tc>
                <a:tc>
                  <a:txBody>
                    <a:bodyPr wrap="square"/>
                    <a:lstStyle/>
                    <a:p>
                      <a:pPr algn="r"/>
                      <a:r>
                        <a:rPr sz="1400" b="0" i="0">
                          <a:solidFill>
                            <a:srgbClr val="C5D2E4"/>
                          </a:solidFill>
                          <a:latin typeface="Calibri"/>
                        </a:rPr>
                        <a:t>15</a:t>
                      </a:r>
                    </a:p>
                  </a:txBody>
                  <a:tcPr anchor="ctr" marL="100584" marR="100584" marT="36576" marB="36576">
                    <a:solidFill>
                      <a:srgbClr val="0E1929"/>
                    </a:solidFill>
                  </a:tcPr>
                </a:tc>
                <a:tc>
                  <a:txBody>
                    <a:bodyPr wrap="square"/>
                    <a:lstStyle/>
                    <a:p>
                      <a:pPr algn="r"/>
                      <a:r>
                        <a:rPr sz="1400" b="0" i="0">
                          <a:solidFill>
                            <a:srgbClr val="C5D2E4"/>
                          </a:solidFill>
                          <a:latin typeface="Calibri"/>
                        </a:rPr>
                        <a:t>11</a:t>
                      </a:r>
                    </a:p>
                  </a:txBody>
                  <a:tcPr anchor="ctr" marL="100584" marR="100584" marT="36576" marB="36576">
                    <a:solidFill>
                      <a:srgbClr val="0E1929"/>
                    </a:solidFill>
                  </a:tcPr>
                </a:tc>
                <a:tc>
                  <a:txBody>
                    <a:bodyPr wrap="square"/>
                    <a:lstStyle/>
                    <a:p>
                      <a:pPr algn="r"/>
                      <a:r>
                        <a:rPr sz="1400" b="0" i="0">
                          <a:solidFill>
                            <a:srgbClr val="C5D2E4"/>
                          </a:solidFill>
                          <a:latin typeface="Calibri"/>
                        </a:rPr>
                        <a:t>10</a:t>
                      </a:r>
                    </a:p>
                  </a:txBody>
                  <a:tcPr anchor="ctr" marL="100584" marR="100584" marT="36576" marB="36576">
                    <a:solidFill>
                      <a:srgbClr val="0E1929"/>
                    </a:solidFill>
                  </a:tcPr>
                </a:tc>
              </a:tr>
              <a:tr h="457200">
                <a:tc>
                  <a:txBody>
                    <a:bodyPr wrap="square"/>
                    <a:lstStyle/>
                    <a:p>
                      <a:pPr algn="l"/>
                      <a:r>
                        <a:rPr sz="1400" b="0" i="0">
                          <a:solidFill>
                            <a:srgbClr val="C5D2E4"/>
                          </a:solidFill>
                          <a:latin typeface="Calibri"/>
                        </a:rPr>
                        <a:t>Thương cảm, tiếc nuối</a:t>
                      </a:r>
                    </a:p>
                  </a:txBody>
                  <a:tcPr anchor="ctr" marL="100584" marR="100584" marT="36576" marB="36576">
                    <a:solidFill>
                      <a:srgbClr val="121E30"/>
                    </a:solidFill>
                  </a:tcPr>
                </a:tc>
                <a:tc>
                  <a:txBody>
                    <a:bodyPr wrap="square"/>
                    <a:lstStyle/>
                    <a:p>
                      <a:pPr algn="r"/>
                      <a:r>
                        <a:rPr sz="1400" b="0" i="0">
                          <a:solidFill>
                            <a:srgbClr val="C5D2E4"/>
                          </a:solidFill>
                          <a:latin typeface="Calibri"/>
                        </a:rPr>
                        <a:t>31</a:t>
                      </a:r>
                    </a:p>
                  </a:txBody>
                  <a:tcPr anchor="ctr" marL="100584" marR="100584" marT="36576" marB="36576">
                    <a:solidFill>
                      <a:srgbClr val="121E30"/>
                    </a:solidFill>
                  </a:tcPr>
                </a:tc>
                <a:tc>
                  <a:txBody>
                    <a:bodyPr wrap="square"/>
                    <a:lstStyle/>
                    <a:p>
                      <a:pPr algn="r"/>
                      <a:r>
                        <a:rPr sz="1400" b="0" i="0">
                          <a:solidFill>
                            <a:srgbClr val="C5D2E4"/>
                          </a:solidFill>
                          <a:latin typeface="Calibri"/>
                        </a:rPr>
                        <a:t>11</a:t>
                      </a:r>
                    </a:p>
                  </a:txBody>
                  <a:tcPr anchor="ctr" marL="100584" marR="100584" marT="36576" marB="36576">
                    <a:solidFill>
                      <a:srgbClr val="121E30"/>
                    </a:solidFill>
                  </a:tcPr>
                </a:tc>
                <a:tc>
                  <a:txBody>
                    <a:bodyPr wrap="square"/>
                    <a:lstStyle/>
                    <a:p>
                      <a:pPr algn="r"/>
                      <a:r>
                        <a:rPr sz="1400" b="0" i="0">
                          <a:solidFill>
                            <a:srgbClr val="C5D2E4"/>
                          </a:solidFill>
                          <a:latin typeface="Calibri"/>
                        </a:rPr>
                        <a:t>9</a:t>
                      </a:r>
                    </a:p>
                  </a:txBody>
                  <a:tcPr anchor="ctr" marL="100584" marR="100584" marT="36576" marB="36576">
                    <a:solidFill>
                      <a:srgbClr val="121E30"/>
                    </a:solidFill>
                  </a:tcPr>
                </a:tc>
                <a:tc>
                  <a:txBody>
                    <a:bodyPr wrap="square"/>
                    <a:lstStyle/>
                    <a:p>
                      <a:pPr algn="r"/>
                      <a:r>
                        <a:rPr sz="1400" b="0" i="0">
                          <a:solidFill>
                            <a:srgbClr val="C5D2E4"/>
                          </a:solidFill>
                          <a:latin typeface="Calibri"/>
                        </a:rPr>
                        <a:t>11</a:t>
                      </a:r>
                    </a:p>
                  </a:txBody>
                  <a:tcPr anchor="ctr" marL="100584" marR="100584" marT="36576" marB="36576">
                    <a:solidFill>
                      <a:srgbClr val="121E30"/>
                    </a:solidFill>
                  </a:tcPr>
                </a:tc>
              </a:tr>
              <a:tr h="457200">
                <a:tc>
                  <a:txBody>
                    <a:bodyPr wrap="square"/>
                    <a:lstStyle/>
                    <a:p>
                      <a:pPr algn="l"/>
                      <a:r>
                        <a:rPr sz="1400" b="0" i="0">
                          <a:solidFill>
                            <a:srgbClr val="C5D2E4"/>
                          </a:solidFill>
                          <a:latin typeface="Calibri"/>
                        </a:rPr>
                        <a:t>Vừa khen vừa chê</a:t>
                      </a:r>
                    </a:p>
                  </a:txBody>
                  <a:tcPr anchor="ctr" marL="100584" marR="100584" marT="36576" marB="36576">
                    <a:solidFill>
                      <a:srgbClr val="0E1929"/>
                    </a:solidFill>
                  </a:tcPr>
                </a:tc>
                <a:tc>
                  <a:txBody>
                    <a:bodyPr wrap="square"/>
                    <a:lstStyle/>
                    <a:p>
                      <a:pPr algn="r"/>
                      <a:r>
                        <a:rPr sz="1400" b="0" i="0">
                          <a:solidFill>
                            <a:srgbClr val="C5D2E4"/>
                          </a:solidFill>
                          <a:latin typeface="Calibri"/>
                        </a:rPr>
                        <a:t>23</a:t>
                      </a:r>
                    </a:p>
                  </a:txBody>
                  <a:tcPr anchor="ctr" marL="100584" marR="100584" marT="36576" marB="36576">
                    <a:solidFill>
                      <a:srgbClr val="0E1929"/>
                    </a:solidFill>
                  </a:tcPr>
                </a:tc>
                <a:tc>
                  <a:txBody>
                    <a:bodyPr wrap="square"/>
                    <a:lstStyle/>
                    <a:p>
                      <a:pPr algn="r"/>
                      <a:r>
                        <a:rPr sz="1400" b="0" i="0">
                          <a:solidFill>
                            <a:srgbClr val="C5D2E4"/>
                          </a:solidFill>
                          <a:latin typeface="Calibri"/>
                        </a:rPr>
                        <a:t>7</a:t>
                      </a:r>
                    </a:p>
                  </a:txBody>
                  <a:tcPr anchor="ctr" marL="100584" marR="100584" marT="36576" marB="36576">
                    <a:solidFill>
                      <a:srgbClr val="0E1929"/>
                    </a:solidFill>
                  </a:tcPr>
                </a:tc>
                <a:tc>
                  <a:txBody>
                    <a:bodyPr wrap="square"/>
                    <a:lstStyle/>
                    <a:p>
                      <a:pPr algn="r"/>
                      <a:r>
                        <a:rPr sz="1400" b="0" i="0">
                          <a:solidFill>
                            <a:srgbClr val="C5D2E4"/>
                          </a:solidFill>
                          <a:latin typeface="Calibri"/>
                        </a:rPr>
                        <a:t>12</a:t>
                      </a:r>
                    </a:p>
                  </a:txBody>
                  <a:tcPr anchor="ctr" marL="100584" marR="100584" marT="36576" marB="36576">
                    <a:solidFill>
                      <a:srgbClr val="0E1929"/>
                    </a:solidFill>
                  </a:tcPr>
                </a:tc>
                <a:tc>
                  <a:txBody>
                    <a:bodyPr wrap="square"/>
                    <a:lstStyle/>
                    <a:p>
                      <a:pPr algn="r"/>
                      <a:r>
                        <a:rPr sz="1400" b="0" i="0">
                          <a:solidFill>
                            <a:srgbClr val="C5D2E4"/>
                          </a:solidFill>
                          <a:latin typeface="Calibri"/>
                        </a:rPr>
                        <a:t>4</a:t>
                      </a:r>
                    </a:p>
                  </a:txBody>
                  <a:tcPr anchor="ctr" marL="100584" marR="100584" marT="36576" marB="36576">
                    <a:solidFill>
                      <a:srgbClr val="0E1929"/>
                    </a:solidFill>
                  </a:tcPr>
                </a:tc>
              </a:tr>
              <a:tr h="457200">
                <a:tc>
                  <a:txBody>
                    <a:bodyPr wrap="square"/>
                    <a:lstStyle/>
                    <a:p>
                      <a:pPr algn="l"/>
                      <a:r>
                        <a:rPr sz="1400" b="0" i="0">
                          <a:solidFill>
                            <a:srgbClr val="C5D2E4"/>
                          </a:solidFill>
                          <a:latin typeface="Calibri"/>
                        </a:rPr>
                        <a:t>Phủ định</a:t>
                      </a:r>
                    </a:p>
                  </a:txBody>
                  <a:tcPr anchor="ctr" marL="100584" marR="100584" marT="36576" marB="36576">
                    <a:solidFill>
                      <a:srgbClr val="121E30"/>
                    </a:solidFill>
                  </a:tcPr>
                </a:tc>
                <a:tc>
                  <a:txBody>
                    <a:bodyPr wrap="square"/>
                    <a:lstStyle/>
                    <a:p>
                      <a:pPr algn="r"/>
                      <a:r>
                        <a:rPr sz="1400" b="0" i="0">
                          <a:solidFill>
                            <a:srgbClr val="C5D2E4"/>
                          </a:solidFill>
                          <a:latin typeface="Calibri"/>
                        </a:rPr>
                        <a:t>19</a:t>
                      </a:r>
                    </a:p>
                  </a:txBody>
                  <a:tcPr anchor="ctr" marL="100584" marR="100584" marT="36576" marB="36576">
                    <a:solidFill>
                      <a:srgbClr val="121E30"/>
                    </a:solidFill>
                  </a:tcPr>
                </a:tc>
                <a:tc>
                  <a:txBody>
                    <a:bodyPr wrap="square"/>
                    <a:lstStyle/>
                    <a:p>
                      <a:pPr algn="r"/>
                      <a:r>
                        <a:rPr sz="1400" b="0" i="0">
                          <a:solidFill>
                            <a:srgbClr val="C5D2E4"/>
                          </a:solidFill>
                          <a:latin typeface="Calibri"/>
                        </a:rPr>
                        <a:t>6</a:t>
                      </a:r>
                    </a:p>
                  </a:txBody>
                  <a:tcPr anchor="ctr" marL="100584" marR="100584" marT="36576" marB="36576">
                    <a:solidFill>
                      <a:srgbClr val="121E30"/>
                    </a:solidFill>
                  </a:tcPr>
                </a:tc>
                <a:tc>
                  <a:txBody>
                    <a:bodyPr wrap="square"/>
                    <a:lstStyle/>
                    <a:p>
                      <a:pPr algn="r"/>
                      <a:r>
                        <a:rPr sz="1400" b="0" i="0">
                          <a:solidFill>
                            <a:srgbClr val="C5D2E4"/>
                          </a:solidFill>
                          <a:latin typeface="Calibri"/>
                        </a:rPr>
                        <a:t>6</a:t>
                      </a:r>
                    </a:p>
                  </a:txBody>
                  <a:tcPr anchor="ctr" marL="100584" marR="100584" marT="36576" marB="36576">
                    <a:solidFill>
                      <a:srgbClr val="121E30"/>
                    </a:solidFill>
                  </a:tcPr>
                </a:tc>
                <a:tc>
                  <a:txBody>
                    <a:bodyPr wrap="square"/>
                    <a:lstStyle/>
                    <a:p>
                      <a:pPr algn="r"/>
                      <a:r>
                        <a:rPr sz="1400" b="0" i="0">
                          <a:solidFill>
                            <a:srgbClr val="C5D2E4"/>
                          </a:solidFill>
                          <a:latin typeface="Calibri"/>
                        </a:rPr>
                        <a:t>7</a:t>
                      </a:r>
                    </a:p>
                  </a:txBody>
                  <a:tcPr anchor="ctr" marL="100584" marR="100584" marT="36576" marB="36576">
                    <a:solidFill>
                      <a:srgbClr val="121E30"/>
                    </a:solidFill>
                  </a:tcPr>
                </a:tc>
              </a:tr>
              <a:tr h="457200">
                <a:tc>
                  <a:txBody>
                    <a:bodyPr wrap="square"/>
                    <a:lstStyle/>
                    <a:p>
                      <a:pPr algn="l"/>
                      <a:r>
                        <a:rPr sz="1400" b="0" i="0">
                          <a:solidFill>
                            <a:srgbClr val="C5D2E4"/>
                          </a:solidFill>
                          <a:latin typeface="Calibri"/>
                        </a:rPr>
                        <a:t>Teencode ngoài từ điển</a:t>
                      </a:r>
                    </a:p>
                  </a:txBody>
                  <a:tcPr anchor="ctr" marL="100584" marR="100584" marT="36576" marB="36576">
                    <a:solidFill>
                      <a:srgbClr val="0E1929"/>
                    </a:solidFill>
                  </a:tcPr>
                </a:tc>
                <a:tc>
                  <a:txBody>
                    <a:bodyPr wrap="square"/>
                    <a:lstStyle/>
                    <a:p>
                      <a:pPr algn="r"/>
                      <a:r>
                        <a:rPr sz="1400" b="0" i="0">
                          <a:solidFill>
                            <a:srgbClr val="C5D2E4"/>
                          </a:solidFill>
                          <a:latin typeface="Calibri"/>
                        </a:rPr>
                        <a:t>16</a:t>
                      </a:r>
                    </a:p>
                  </a:txBody>
                  <a:tcPr anchor="ctr" marL="100584" marR="100584" marT="36576" marB="36576">
                    <a:solidFill>
                      <a:srgbClr val="0E1929"/>
                    </a:solidFill>
                  </a:tcPr>
                </a:tc>
                <a:tc>
                  <a:txBody>
                    <a:bodyPr wrap="square"/>
                    <a:lstStyle/>
                    <a:p>
                      <a:pPr algn="r"/>
                      <a:r>
                        <a:rPr sz="1400" b="0" i="0">
                          <a:solidFill>
                            <a:srgbClr val="C5D2E4"/>
                          </a:solidFill>
                          <a:latin typeface="Calibri"/>
                        </a:rPr>
                        <a:t>5</a:t>
                      </a:r>
                    </a:p>
                  </a:txBody>
                  <a:tcPr anchor="ctr" marL="100584" marR="100584" marT="36576" marB="36576">
                    <a:solidFill>
                      <a:srgbClr val="0E1929"/>
                    </a:solidFill>
                  </a:tcPr>
                </a:tc>
                <a:tc>
                  <a:txBody>
                    <a:bodyPr wrap="square"/>
                    <a:lstStyle/>
                    <a:p>
                      <a:pPr algn="r"/>
                      <a:r>
                        <a:rPr sz="1400" b="0" i="0">
                          <a:solidFill>
                            <a:srgbClr val="C5D2E4"/>
                          </a:solidFill>
                          <a:latin typeface="Calibri"/>
                        </a:rPr>
                        <a:t>4</a:t>
                      </a:r>
                    </a:p>
                  </a:txBody>
                  <a:tcPr anchor="ctr" marL="100584" marR="100584" marT="36576" marB="36576">
                    <a:solidFill>
                      <a:srgbClr val="0E1929"/>
                    </a:solidFill>
                  </a:tcPr>
                </a:tc>
                <a:tc>
                  <a:txBody>
                    <a:bodyPr wrap="square"/>
                    <a:lstStyle/>
                    <a:p>
                      <a:pPr algn="r"/>
                      <a:r>
                        <a:rPr sz="1400" b="0" i="0">
                          <a:solidFill>
                            <a:srgbClr val="C5D2E4"/>
                          </a:solidFill>
                          <a:latin typeface="Calibri"/>
                        </a:rPr>
                        <a:t>7</a:t>
                      </a:r>
                    </a:p>
                  </a:txBody>
                  <a:tcPr anchor="ctr" marL="100584" marR="100584" marT="36576" marB="36576">
                    <a:solidFill>
                      <a:srgbClr val="0E1929"/>
                    </a:solidFill>
                  </a:tcPr>
                </a:tc>
              </a:tr>
              <a:tr h="457200">
                <a:tc>
                  <a:txBody>
                    <a:bodyPr wrap="square"/>
                    <a:lstStyle/>
                    <a:p>
                      <a:pPr algn="l"/>
                      <a:r>
                        <a:rPr sz="1400" b="0" i="0">
                          <a:solidFill>
                            <a:srgbClr val="C5D2E4"/>
                          </a:solidFill>
                          <a:latin typeface="Calibri"/>
                        </a:rPr>
                        <a:t>Tên riêng lấn át hoặc mất emoji</a:t>
                      </a:r>
                    </a:p>
                  </a:txBody>
                  <a:tcPr anchor="ctr" marL="100584" marR="100584" marT="36576" marB="36576">
                    <a:solidFill>
                      <a:srgbClr val="121E30"/>
                    </a:solidFill>
                  </a:tcPr>
                </a:tc>
                <a:tc>
                  <a:txBody>
                    <a:bodyPr wrap="square"/>
                    <a:lstStyle/>
                    <a:p>
                      <a:pPr algn="r"/>
                      <a:r>
                        <a:rPr sz="1400" b="0" i="0">
                          <a:solidFill>
                            <a:srgbClr val="C5D2E4"/>
                          </a:solidFill>
                          <a:latin typeface="Calibri"/>
                        </a:rPr>
                        <a:t>11</a:t>
                      </a:r>
                    </a:p>
                  </a:txBody>
                  <a:tcPr anchor="ctr" marL="100584" marR="100584" marT="36576" marB="36576">
                    <a:solidFill>
                      <a:srgbClr val="121E30"/>
                    </a:solidFill>
                  </a:tcPr>
                </a:tc>
                <a:tc>
                  <a:txBody>
                    <a:bodyPr wrap="square"/>
                    <a:lstStyle/>
                    <a:p>
                      <a:pPr algn="r"/>
                      <a:r>
                        <a:rPr sz="1400" b="0" i="0">
                          <a:solidFill>
                            <a:srgbClr val="C5D2E4"/>
                          </a:solidFill>
                          <a:latin typeface="Calibri"/>
                        </a:rPr>
                        <a:t>4</a:t>
                      </a:r>
                    </a:p>
                  </a:txBody>
                  <a:tcPr anchor="ctr" marL="100584" marR="100584" marT="36576" marB="36576">
                    <a:solidFill>
                      <a:srgbClr val="121E30"/>
                    </a:solidFill>
                  </a:tcPr>
                </a:tc>
                <a:tc>
                  <a:txBody>
                    <a:bodyPr wrap="square"/>
                    <a:lstStyle/>
                    <a:p>
                      <a:pPr algn="r"/>
                      <a:r>
                        <a:rPr sz="1400" b="0" i="0">
                          <a:solidFill>
                            <a:srgbClr val="C5D2E4"/>
                          </a:solidFill>
                          <a:latin typeface="Calibri"/>
                        </a:rPr>
                        <a:t>4</a:t>
                      </a:r>
                    </a:p>
                  </a:txBody>
                  <a:tcPr anchor="ctr" marL="100584" marR="100584" marT="36576" marB="36576">
                    <a:solidFill>
                      <a:srgbClr val="121E30"/>
                    </a:solidFill>
                  </a:tcPr>
                </a:tc>
                <a:tc>
                  <a:txBody>
                    <a:bodyPr wrap="square"/>
                    <a:lstStyle/>
                    <a:p>
                      <a:pPr algn="r"/>
                      <a:r>
                        <a:rPr sz="1400" b="0" i="0">
                          <a:solidFill>
                            <a:srgbClr val="C5D2E4"/>
                          </a:solidFill>
                          <a:latin typeface="Calibri"/>
                        </a:rPr>
                        <a:t>3</a:t>
                      </a:r>
                    </a:p>
                  </a:txBody>
                  <a:tcPr anchor="ctr" marL="100584" marR="100584" marT="36576" marB="36576">
                    <a:solidFill>
                      <a:srgbClr val="121E30"/>
                    </a:solidFill>
                  </a:tcPr>
                </a:tc>
              </a:tr>
              <a:tr h="457200">
                <a:tc>
                  <a:txBody>
                    <a:bodyPr wrap="square"/>
                    <a:lstStyle/>
                    <a:p>
                      <a:pPr algn="l"/>
                      <a:r>
                        <a:rPr sz="1400" b="0" i="0">
                          <a:solidFill>
                            <a:srgbClr val="C5D2E4"/>
                          </a:solidFill>
                          <a:latin typeface="Calibri"/>
                        </a:rPr>
                        <a:t>Nhãn gốc đáng ngờ</a:t>
                      </a:r>
                    </a:p>
                  </a:txBody>
                  <a:tcPr anchor="ctr" marL="100584" marR="100584" marT="36576" marB="36576">
                    <a:solidFill>
                      <a:srgbClr val="0E1929"/>
                    </a:solidFill>
                  </a:tcPr>
                </a:tc>
                <a:tc>
                  <a:txBody>
                    <a:bodyPr wrap="square"/>
                    <a:lstStyle/>
                    <a:p>
                      <a:pPr algn="r"/>
                      <a:r>
                        <a:rPr sz="1400" b="0" i="0">
                          <a:solidFill>
                            <a:srgbClr val="C5D2E4"/>
                          </a:solidFill>
                          <a:latin typeface="Calibri"/>
                        </a:rPr>
                        <a:t>7</a:t>
                      </a:r>
                    </a:p>
                  </a:txBody>
                  <a:tcPr anchor="ctr" marL="100584" marR="100584" marT="36576" marB="36576">
                    <a:solidFill>
                      <a:srgbClr val="0E1929"/>
                    </a:solidFill>
                  </a:tcPr>
                </a:tc>
                <a:tc>
                  <a:txBody>
                    <a:bodyPr wrap="square"/>
                    <a:lstStyle/>
                    <a:p>
                      <a:pPr algn="r"/>
                      <a:r>
                        <a:rPr sz="1400" b="0" i="0">
                          <a:solidFill>
                            <a:srgbClr val="C5D2E4"/>
                          </a:solidFill>
                          <a:latin typeface="Calibri"/>
                        </a:rPr>
                        <a:t>3</a:t>
                      </a:r>
                    </a:p>
                  </a:txBody>
                  <a:tcPr anchor="ctr" marL="100584" marR="100584" marT="36576" marB="36576">
                    <a:solidFill>
                      <a:srgbClr val="0E1929"/>
                    </a:solidFill>
                  </a:tcPr>
                </a:tc>
                <a:tc>
                  <a:txBody>
                    <a:bodyPr wrap="square"/>
                    <a:lstStyle/>
                    <a:p>
                      <a:pPr algn="r"/>
                      <a:r>
                        <a:rPr sz="1400" b="0" i="0">
                          <a:solidFill>
                            <a:srgbClr val="C5D2E4"/>
                          </a:solidFill>
                          <a:latin typeface="Calibri"/>
                        </a:rPr>
                        <a:t>2</a:t>
                      </a:r>
                    </a:p>
                  </a:txBody>
                  <a:tcPr anchor="ctr" marL="100584" marR="100584" marT="36576" marB="36576">
                    <a:solidFill>
                      <a:srgbClr val="0E1929"/>
                    </a:solidFill>
                  </a:tcPr>
                </a:tc>
                <a:tc>
                  <a:txBody>
                    <a:bodyPr wrap="square"/>
                    <a:lstStyle/>
                    <a:p>
                      <a:pPr algn="r"/>
                      <a:r>
                        <a:rPr sz="1400" b="0" i="0">
                          <a:solidFill>
                            <a:srgbClr val="C5D2E4"/>
                          </a:solidFill>
                          <a:latin typeface="Calibri"/>
                        </a:rPr>
                        <a:t>2</a:t>
                      </a:r>
                    </a:p>
                  </a:txBody>
                  <a:tcPr anchor="ctr" marL="100584" marR="100584" marT="36576" marB="36576">
                    <a:solidFill>
                      <a:srgbClr val="0E1929"/>
                    </a:solidFill>
                  </a:tcPr>
                </a:tc>
              </a:tr>
              <a:tr h="457200">
                <a:tc>
                  <a:txBody>
                    <a:bodyPr wrap="square"/>
                    <a:lstStyle/>
                    <a:p>
                      <a:pPr algn="l"/>
                      <a:r>
                        <a:rPr sz="1400" b="0" i="0">
                          <a:solidFill>
                            <a:srgbClr val="C5D2E4"/>
                          </a:solidFill>
                          <a:latin typeface="Calibri"/>
                        </a:rPr>
                        <a:t>Châm biếm, không dấu, khác</a:t>
                      </a:r>
                    </a:p>
                  </a:txBody>
                  <a:tcPr anchor="ctr" marL="100584" marR="100584" marT="36576" marB="36576">
                    <a:solidFill>
                      <a:srgbClr val="121E30"/>
                    </a:solidFill>
                  </a:tcPr>
                </a:tc>
                <a:tc>
                  <a:txBody>
                    <a:bodyPr wrap="square"/>
                    <a:lstStyle/>
                    <a:p>
                      <a:pPr algn="r"/>
                      <a:r>
                        <a:rPr sz="1400" b="0" i="0">
                          <a:solidFill>
                            <a:srgbClr val="C5D2E4"/>
                          </a:solidFill>
                          <a:latin typeface="Calibri"/>
                        </a:rPr>
                        <a:t>7</a:t>
                      </a:r>
                    </a:p>
                  </a:txBody>
                  <a:tcPr anchor="ctr" marL="100584" marR="100584" marT="36576" marB="36576">
                    <a:solidFill>
                      <a:srgbClr val="121E30"/>
                    </a:solidFill>
                  </a:tcPr>
                </a:tc>
                <a:tc>
                  <a:txBody>
                    <a:bodyPr wrap="square"/>
                    <a:lstStyle/>
                    <a:p>
                      <a:pPr algn="r"/>
                      <a:r>
                        <a:rPr sz="1400" b="0" i="0">
                          <a:solidFill>
                            <a:srgbClr val="C5D2E4"/>
                          </a:solidFill>
                          <a:latin typeface="Calibri"/>
                        </a:rPr>
                        <a:t>4</a:t>
                      </a:r>
                    </a:p>
                  </a:txBody>
                  <a:tcPr anchor="ctr" marL="100584" marR="100584" marT="36576" marB="36576">
                    <a:solidFill>
                      <a:srgbClr val="121E30"/>
                    </a:solidFill>
                  </a:tcPr>
                </a:tc>
                <a:tc>
                  <a:txBody>
                    <a:bodyPr wrap="square"/>
                    <a:lstStyle/>
                    <a:p>
                      <a:pPr algn="r"/>
                      <a:r>
                        <a:rPr sz="1400" b="0" i="0">
                          <a:solidFill>
                            <a:srgbClr val="C5D2E4"/>
                          </a:solidFill>
                          <a:latin typeface="Calibri"/>
                        </a:rPr>
                        <a:t>2</a:t>
                      </a:r>
                    </a:p>
                  </a:txBody>
                  <a:tcPr anchor="ctr" marL="100584" marR="100584" marT="36576" marB="36576">
                    <a:solidFill>
                      <a:srgbClr val="121E30"/>
                    </a:solidFill>
                  </a:tcPr>
                </a:tc>
                <a:tc>
                  <a:txBody>
                    <a:bodyPr wrap="square"/>
                    <a:lstStyle/>
                    <a:p>
                      <a:pPr algn="r"/>
                      <a:r>
                        <a:rPr sz="1400" b="0" i="0">
                          <a:solidFill>
                            <a:srgbClr val="C5D2E4"/>
                          </a:solidFill>
                          <a:latin typeface="Calibri"/>
                        </a:rPr>
                        <a:t>1</a:t>
                      </a:r>
                    </a:p>
                  </a:txBody>
                  <a:tcPr anchor="ctr" marL="100584" marR="100584" marT="36576" marB="36576">
                    <a:solidFill>
                      <a:srgbClr val="121E30"/>
                    </a:solidFill>
                  </a:tcPr>
                </a:tc>
              </a:tr>
            </a:tbl>
          </a:graphicData>
        </a:graphic>
      </p:graphicFrame>
      <p:sp>
        <p:nvSpPr>
          <p:cNvPr id="7" name="TextBox 6"/>
          <p:cNvSpPr txBox="1"/>
          <p:nvPr/>
        </p:nvSpPr>
        <p:spPr>
          <a:xfrm>
            <a:off x="8183879" y="1810512"/>
            <a:ext cx="3291840" cy="4407407"/>
          </a:xfrm>
          <a:prstGeom prst="rect">
            <a:avLst/>
          </a:prstGeom>
          <a:noFill/>
        </p:spPr>
        <p:txBody>
          <a:bodyPr wrap="square" lIns="0" rIns="0" tIns="0" bIns="0">
            <a:spAutoFit/>
          </a:bodyPr>
          <a:lstStyle/>
          <a:p>
            <a:pPr marL="219456" indent="-219456">
              <a:lnSpc>
                <a:spcPct val="118000"/>
              </a:lnSpc>
              <a:spcAft>
                <a:spcPts val="1800"/>
              </a:spcAft>
              <a:buClr>
                <a:srgbClr val="2DD4BF"/>
              </a:buClr>
              <a:buFont typeface="Arial"/>
              <a:buChar char="•"/>
            </a:pPr>
            <a:r>
              <a:rPr sz="1550" b="0" i="0">
                <a:solidFill>
                  <a:srgbClr val="C5D2E4"/>
                </a:solidFill>
                <a:latin typeface="Calibri"/>
              </a:rPr>
              <a:t>Mẫu phân tầng từ 935 dòng sai; một người đọc, một lượt</a:t>
            </a:r>
          </a:p>
          <a:p>
            <a:pPr marL="219456" indent="-219456">
              <a:lnSpc>
                <a:spcPct val="118000"/>
              </a:lnSpc>
              <a:spcAft>
                <a:spcPts val="1800"/>
              </a:spcAft>
              <a:buClr>
                <a:srgbClr val="2DD4BF"/>
              </a:buClr>
              <a:buFont typeface="Arial"/>
              <a:buChar char="•"/>
            </a:pPr>
            <a:r>
              <a:rPr sz="1550" b="0" i="0">
                <a:solidFill>
                  <a:srgbClr val="C5D2E4"/>
                </a:solidFill>
                <a:latin typeface="Calibri"/>
              </a:rPr>
              <a:t>Lớp trung tính: dẫn đầu là vừa khen vừa chê (12 trong 50 dòng), đúng với F1 0,5354</a:t>
            </a:r>
          </a:p>
          <a:p>
            <a:pPr marL="219456" indent="-219456">
              <a:lnSpc>
                <a:spcPct val="118000"/>
              </a:lnSpc>
              <a:spcAft>
                <a:spcPts val="1800"/>
              </a:spcAft>
              <a:buClr>
                <a:srgbClr val="2DD4BF"/>
              </a:buClr>
              <a:buFont typeface="Arial"/>
              <a:buChar char="•"/>
            </a:pPr>
            <a:r>
              <a:rPr sz="1550" b="0" i="0">
                <a:solidFill>
                  <a:srgbClr val="C5D2E4"/>
                </a:solidFill>
                <a:latin typeface="Calibri"/>
              </a:rPr>
              <a:t>Mô hình học cả chủ đề và tên riêng làm tín hiệu cảm xúc, đúng trong miền này nhưng không chuyển được sang video khác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KẾT LUẬN</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Pipeline chạy được, tái lập được, và biết mình yếu ở đâu</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14</a:t>
            </a:r>
          </a:p>
        </p:txBody>
      </p:sp>
      <p:sp>
        <p:nvSpPr>
          <p:cNvPr id="6" name="TextBox 5"/>
          <p:cNvSpPr txBox="1"/>
          <p:nvPr/>
        </p:nvSpPr>
        <p:spPr>
          <a:xfrm>
            <a:off x="731520" y="1810512"/>
            <a:ext cx="10728655" cy="4407407"/>
          </a:xfrm>
          <a:prstGeom prst="rect">
            <a:avLst/>
          </a:prstGeom>
          <a:noFill/>
        </p:spPr>
        <p:txBody>
          <a:bodyPr wrap="square" lIns="0" rIns="0" tIns="0" bIns="0">
            <a:spAutoFit/>
          </a:bodyPr>
          <a:lstStyle/>
          <a:p>
            <a:pPr marL="219456" indent="-219456">
              <a:lnSpc>
                <a:spcPct val="118000"/>
              </a:lnSpc>
              <a:spcAft>
                <a:spcPts val="2200"/>
              </a:spcAft>
              <a:buClr>
                <a:srgbClr val="2DD4BF"/>
              </a:buClr>
              <a:buFont typeface="Arial"/>
              <a:buChar char="•"/>
            </a:pPr>
            <a:r>
              <a:rPr sz="1750" b="0" i="0">
                <a:solidFill>
                  <a:srgbClr val="C5D2E4"/>
                </a:solidFill>
                <a:latin typeface="Calibri"/>
              </a:rPr>
              <a:t>Đủ năm bước của môn, mọi con số tái lập từ results/ bằng lệnh trong phụ lục báo cáo</a:t>
            </a:r>
          </a:p>
          <a:p>
            <a:pPr marL="219456" indent="-219456">
              <a:lnSpc>
                <a:spcPct val="118000"/>
              </a:lnSpc>
              <a:spcAft>
                <a:spcPts val="2200"/>
              </a:spcAft>
              <a:buClr>
                <a:srgbClr val="2DD4BF"/>
              </a:buClr>
              <a:buFont typeface="Arial"/>
              <a:buChar char="•"/>
            </a:pPr>
            <a:r>
              <a:rPr sz="1750" b="0" i="0">
                <a:solidFill>
                  <a:srgbClr val="C5D2E4"/>
                </a:solidFill>
                <a:latin typeface="Calibri"/>
              </a:rPr>
              <a:t>Macro-F1 0,72 trên tập kiểm tra và năm hạt giống; lớp trung tính (F1 0,5354) là giới hạn của cách tiếp cận TF-IDF tuyến tính</a:t>
            </a:r>
          </a:p>
          <a:p>
            <a:pPr marL="219456" indent="-219456">
              <a:lnSpc>
                <a:spcPct val="118000"/>
              </a:lnSpc>
              <a:spcAft>
                <a:spcPts val="2200"/>
              </a:spcAft>
              <a:buClr>
                <a:srgbClr val="2DD4BF"/>
              </a:buClr>
              <a:buFont typeface="Arial"/>
              <a:buChar char="•"/>
            </a:pPr>
            <a:r>
              <a:rPr sz="1750" b="0" i="0">
                <a:solidFill>
                  <a:srgbClr val="C5D2E4"/>
                </a:solidFill>
                <a:latin typeface="Calibri"/>
              </a:rPr>
              <a:t>Với chủ đề, tham số HDBSCAN quyết định kết quả nhiều hơn danh sách từ dừng</a:t>
            </a:r>
          </a:p>
          <a:p>
            <a:pPr marL="219456" indent="-219456">
              <a:lnSpc>
                <a:spcPct val="118000"/>
              </a:lnSpc>
              <a:spcAft>
                <a:spcPts val="2200"/>
              </a:spcAft>
              <a:buClr>
                <a:srgbClr val="2DD4BF"/>
              </a:buClr>
              <a:buFont typeface="Arial"/>
              <a:buChar char="•"/>
            </a:pPr>
            <a:r>
              <a:rPr sz="1750" b="1" i="0">
                <a:solidFill>
                  <a:srgbClr val="F2F6FB"/>
                </a:solidFill>
                <a:latin typeface="Calibri"/>
              </a:rPr>
              <a:t>Tiếp theo: </a:t>
            </a:r>
            <a:r>
              <a:rPr sz="1750" b="0" i="0">
                <a:solidFill>
                  <a:srgbClr val="C5D2E4"/>
                </a:solidFill>
                <a:latin typeface="Calibri"/>
              </a:rPr>
              <a:t>giữ emoji làm token và đo lại theo cùng quy trình năm hạt giống; dùng vector câu cho hồi quy logistic hoặc tinh chỉnh PhoBERT ba lớp; tính coherence c_v để chọn cấu hình chủ đề theo số đo thay vì cảm nhận</a:t>
            </a:r>
          </a:p>
        </p:txBody>
      </p:sp>
      <p:sp>
        <p:nvSpPr>
          <p:cNvPr id="7" name="TextBox 6"/>
          <p:cNvSpPr txBox="1"/>
          <p:nvPr/>
        </p:nvSpPr>
        <p:spPr>
          <a:xfrm>
            <a:off x="731520" y="5715000"/>
            <a:ext cx="10728655" cy="548640"/>
          </a:xfrm>
          <a:prstGeom prst="rect">
            <a:avLst/>
          </a:prstGeom>
          <a:noFill/>
        </p:spPr>
        <p:txBody>
          <a:bodyPr wrap="square" lIns="0" rIns="0" tIns="0" bIns="0">
            <a:spAutoFit/>
          </a:bodyPr>
          <a:lstStyle/>
          <a:p>
            <a:r>
              <a:rPr sz="1700" b="1" i="0">
                <a:solidFill>
                  <a:srgbClr val="5EEAD4"/>
                </a:solidFill>
                <a:latin typeface="Calibri Light"/>
              </a:rPr>
              <a:t>Số đẹp thì dễ, số đọc lại được mới khó.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15</a:t>
            </a:r>
          </a:p>
        </p:txBody>
      </p:sp>
      <p:sp>
        <p:nvSpPr>
          <p:cNvPr id="3" name="TextBox 2"/>
          <p:cNvSpPr txBox="1"/>
          <p:nvPr/>
        </p:nvSpPr>
        <p:spPr>
          <a:xfrm>
            <a:off x="731520" y="2514600"/>
            <a:ext cx="10728655" cy="914400"/>
          </a:xfrm>
          <a:prstGeom prst="rect">
            <a:avLst/>
          </a:prstGeom>
          <a:noFill/>
        </p:spPr>
        <p:txBody>
          <a:bodyPr wrap="square" lIns="0" rIns="0" tIns="0" bIns="0">
            <a:spAutoFit/>
          </a:bodyPr>
          <a:lstStyle/>
          <a:p>
            <a:r>
              <a:rPr sz="3600" b="1" i="0">
                <a:solidFill>
                  <a:srgbClr val="F2F6FB"/>
                </a:solidFill>
                <a:latin typeface="Calibri Light"/>
              </a:rPr>
              <a:t>Câu hỏi</a:t>
            </a:r>
          </a:p>
        </p:txBody>
      </p:sp>
      <p:sp>
        <p:nvSpPr>
          <p:cNvPr id="4" name="Rectangle 3"/>
          <p:cNvSpPr/>
          <p:nvPr/>
        </p:nvSpPr>
        <p:spPr>
          <a:xfrm>
            <a:off x="731520" y="3401568"/>
            <a:ext cx="105156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703320"/>
            <a:ext cx="8686800" cy="1097280"/>
          </a:xfrm>
          <a:prstGeom prst="rect">
            <a:avLst/>
          </a:prstGeom>
          <a:noFill/>
        </p:spPr>
        <p:txBody>
          <a:bodyPr wrap="square" lIns="0" rIns="0" tIns="0" bIns="0">
            <a:spAutoFit/>
          </a:bodyPr>
          <a:lstStyle/>
          <a:p>
            <a:pPr>
              <a:spcAft>
                <a:spcPts val="900"/>
              </a:spcAft>
            </a:pPr>
            <a:r>
              <a:rPr sz="1600" b="0" i="0">
                <a:solidFill>
                  <a:srgbClr val="C5D2E4"/>
                </a:solidFill>
                <a:latin typeface="Calibri"/>
              </a:rPr>
              <a:t>Nhóm em xin cảm ơn thầy và các bạn.</a:t>
            </a:r>
          </a:p>
          <a:p>
            <a:pPr>
              <a:lnSpc>
                <a:spcPct val="120000"/>
              </a:lnSpc>
            </a:pPr>
            <a:r>
              <a:rPr sz="1400" b="0" i="0">
                <a:solidFill>
                  <a:srgbClr val="93A6C0"/>
                </a:solidFill>
                <a:latin typeface="Calibri"/>
              </a:rPr>
              <a:t>Mã nguồn, 146 kiểm thử và toàn bộ tệp kết quả nằm trong repo nộp kèm báo cáo. Ba slide phụ lục phía sau: tài liệu tham khảo, ví dụ số c-TF-IDF, và một bẫy kỹ thuật của BERTopic.</a:t>
            </a:r>
          </a:p>
        </p:txBody>
      </p:sp>
      <p:sp>
        <p:nvSpPr>
          <p:cNvPr id="6" name="TextBox 5"/>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PHỤ LỤC B1</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Tài liệu tham khảo</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16</a:t>
            </a:r>
          </a:p>
        </p:txBody>
      </p:sp>
      <p:sp>
        <p:nvSpPr>
          <p:cNvPr id="6" name="TextBox 5"/>
          <p:cNvSpPr txBox="1"/>
          <p:nvPr/>
        </p:nvSpPr>
        <p:spPr>
          <a:xfrm>
            <a:off x="731520" y="1810512"/>
            <a:ext cx="10728655" cy="4572000"/>
          </a:xfrm>
          <a:prstGeom prst="rect">
            <a:avLst/>
          </a:prstGeom>
          <a:noFill/>
        </p:spPr>
        <p:txBody>
          <a:bodyPr wrap="square" lIns="0" rIns="0" tIns="0" bIns="0">
            <a:spAutoFit/>
          </a:bodyPr>
          <a:lstStyle/>
          <a:p>
            <a:pPr marL="274320" indent="-274320">
              <a:lnSpc>
                <a:spcPct val="114000"/>
              </a:lnSpc>
              <a:spcAft>
                <a:spcPts val="1300"/>
              </a:spcAft>
            </a:pPr>
            <a:r>
              <a:rPr sz="1400" b="1" i="0">
                <a:solidFill>
                  <a:srgbClr val="2DD4BF"/>
                </a:solidFill>
                <a:latin typeface="Calibri"/>
              </a:rPr>
              <a:t>1.  </a:t>
            </a:r>
            <a:r>
              <a:rPr sz="1400" b="0" i="0">
                <a:solidFill>
                  <a:srgbClr val="C5D2E4"/>
                </a:solidFill>
                <a:latin typeface="Calibri"/>
              </a:rPr>
              <a:t>Slide môn CS221 Xử lý ngôn ngữ tự nhiên, NCS.ThS Đặng Văn Thìn, UIT, bài 3, 4, 5, 6.</a:t>
            </a:r>
          </a:p>
          <a:p>
            <a:pPr marL="274320" indent="-274320">
              <a:lnSpc>
                <a:spcPct val="114000"/>
              </a:lnSpc>
              <a:spcAft>
                <a:spcPts val="1300"/>
              </a:spcAft>
            </a:pPr>
            <a:r>
              <a:rPr sz="1400" b="1" i="0">
                <a:solidFill>
                  <a:srgbClr val="2DD4BF"/>
                </a:solidFill>
                <a:latin typeface="Calibri"/>
              </a:rPr>
              <a:t>2.  </a:t>
            </a:r>
            <a:r>
              <a:rPr sz="1400" b="0" i="0">
                <a:solidFill>
                  <a:srgbClr val="C5D2E4"/>
                </a:solidFill>
                <a:latin typeface="Calibri"/>
              </a:rPr>
              <a:t>Grootendorst, M. (2022). BERTopic: Neural topic modeling with a class-based TF-IDF procedure. arXiv:2203.05794.</a:t>
            </a:r>
          </a:p>
          <a:p>
            <a:pPr marL="274320" indent="-274320">
              <a:lnSpc>
                <a:spcPct val="114000"/>
              </a:lnSpc>
              <a:spcAft>
                <a:spcPts val="1300"/>
              </a:spcAft>
            </a:pPr>
            <a:r>
              <a:rPr sz="1400" b="1" i="0">
                <a:solidFill>
                  <a:srgbClr val="2DD4BF"/>
                </a:solidFill>
                <a:latin typeface="Calibri"/>
              </a:rPr>
              <a:t>3.  </a:t>
            </a:r>
            <a:r>
              <a:rPr sz="1400" b="0" i="0">
                <a:solidFill>
                  <a:srgbClr val="C5D2E4"/>
                </a:solidFill>
                <a:latin typeface="Calibri"/>
              </a:rPr>
              <a:t>McInnes, L., Healy, J., Melville, J. (2018). UMAP: Uniform Manifold Approximation and Projection for Dimension Reduction. arXiv:1802.03426.</a:t>
            </a:r>
          </a:p>
          <a:p>
            <a:pPr marL="274320" indent="-274320">
              <a:lnSpc>
                <a:spcPct val="114000"/>
              </a:lnSpc>
              <a:spcAft>
                <a:spcPts val="1300"/>
              </a:spcAft>
            </a:pPr>
            <a:r>
              <a:rPr sz="1400" b="1" i="0">
                <a:solidFill>
                  <a:srgbClr val="2DD4BF"/>
                </a:solidFill>
                <a:latin typeface="Calibri"/>
              </a:rPr>
              <a:t>4.  </a:t>
            </a:r>
            <a:r>
              <a:rPr sz="1400" b="0" i="0">
                <a:solidFill>
                  <a:srgbClr val="C5D2E4"/>
                </a:solidFill>
                <a:latin typeface="Calibri"/>
              </a:rPr>
              <a:t>Campello, R. J. G. B., Moulavi, D., Sander, J. (2013). Density-Based Clustering Based on Hierarchical Density Estimates. PAKDD 2013, LNCS 7819.</a:t>
            </a:r>
          </a:p>
          <a:p>
            <a:pPr marL="274320" indent="-274320">
              <a:lnSpc>
                <a:spcPct val="114000"/>
              </a:lnSpc>
              <a:spcAft>
                <a:spcPts val="1300"/>
              </a:spcAft>
            </a:pPr>
            <a:r>
              <a:rPr sz="1400" b="1" i="0">
                <a:solidFill>
                  <a:srgbClr val="2DD4BF"/>
                </a:solidFill>
                <a:latin typeface="Calibri"/>
              </a:rPr>
              <a:t>5.  </a:t>
            </a:r>
            <a:r>
              <a:rPr sz="1400" b="0" i="0">
                <a:solidFill>
                  <a:srgbClr val="C5D2E4"/>
                </a:solidFill>
                <a:latin typeface="Calibri"/>
              </a:rPr>
              <a:t>Nguyen, D. Q., Nguyen, A. T. (2020). PhoBERT: Pre-trained language models for Vietnamese. Findings of EMNLP 2020.</a:t>
            </a:r>
          </a:p>
          <a:p>
            <a:pPr marL="274320" indent="-274320">
              <a:lnSpc>
                <a:spcPct val="114000"/>
              </a:lnSpc>
              <a:spcAft>
                <a:spcPts val="1300"/>
              </a:spcAft>
            </a:pPr>
            <a:r>
              <a:rPr sz="1400" b="1" i="0">
                <a:solidFill>
                  <a:srgbClr val="2DD4BF"/>
                </a:solidFill>
                <a:latin typeface="Calibri"/>
              </a:rPr>
              <a:t>6.  </a:t>
            </a:r>
            <a:r>
              <a:rPr sz="1400" b="0" i="0">
                <a:solidFill>
                  <a:srgbClr val="C5D2E4"/>
                </a:solidFill>
                <a:latin typeface="Calibri"/>
              </a:rPr>
              <a:t>Thẻ mô hình keepitreal/vietnamese-sbert, Hugging Face Hub.</a:t>
            </a:r>
          </a:p>
          <a:p>
            <a:pPr marL="274320" indent="-274320">
              <a:lnSpc>
                <a:spcPct val="114000"/>
              </a:lnSpc>
              <a:spcAft>
                <a:spcPts val="1300"/>
              </a:spcAft>
            </a:pPr>
            <a:r>
              <a:rPr sz="1400" b="1" i="0">
                <a:solidFill>
                  <a:srgbClr val="2DD4BF"/>
                </a:solidFill>
                <a:latin typeface="Calibri"/>
              </a:rPr>
              <a:t>7.  </a:t>
            </a:r>
            <a:r>
              <a:rPr sz="1400" b="0" i="0">
                <a:solidFill>
                  <a:srgbClr val="C5D2E4"/>
                </a:solidFill>
                <a:latin typeface="Calibri"/>
              </a:rPr>
              <a:t>pyvi 0.1.1; scikit-learn 1.9.1 (Pedregosa và cộng sự, JMLR 2011); Streamlit 1.64.0; BERTopic 0.17.4; tài liệu YouTube Data API v3.</a:t>
            </a:r>
          </a:p>
          <a:p>
            <a:pPr marL="274320" indent="-274320">
              <a:lnSpc>
                <a:spcPct val="114000"/>
              </a:lnSpc>
              <a:spcAft>
                <a:spcPts val="1300"/>
              </a:spcAft>
            </a:pPr>
            <a:r>
              <a:rPr sz="1400" b="1" i="0">
                <a:solidFill>
                  <a:srgbClr val="2DD4BF"/>
                </a:solidFill>
                <a:latin typeface="Calibri"/>
              </a:rPr>
              <a:t>8.  </a:t>
            </a:r>
            <a:r>
              <a:rPr sz="1400" b="0" i="0">
                <a:solidFill>
                  <a:srgbClr val="C5D2E4"/>
                </a:solidFill>
                <a:latin typeface="Calibri"/>
              </a:rPr>
              <a:t>Dữ liệu được cung cấp bởi dự án ATSH-ABSA (Phạm Xuân Vĩnh Hà, UIT), chỉ dùng cho mục đích học tập. Gói ATSH-NLP-20k.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PHỤ LỤC B2</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900" b="1" i="0">
                <a:solidFill>
                  <a:srgbClr val="F2F6FB"/>
                </a:solidFill>
                <a:latin typeface="Calibri Light"/>
              </a:rPr>
              <a:t>c-TF-IDF: vì sao “hay” không bao giờ đứng đầu từ khóa</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17</a:t>
            </a:r>
          </a:p>
        </p:txBody>
      </p:sp>
      <p:sp>
        <p:nvSpPr>
          <p:cNvPr id="6" name="TextBox 5"/>
          <p:cNvSpPr txBox="1"/>
          <p:nvPr/>
        </p:nvSpPr>
        <p:spPr>
          <a:xfrm>
            <a:off x="731520" y="1810512"/>
            <a:ext cx="10728655" cy="365760"/>
          </a:xfrm>
          <a:prstGeom prst="rect">
            <a:avLst/>
          </a:prstGeom>
          <a:noFill/>
        </p:spPr>
        <p:txBody>
          <a:bodyPr wrap="square" lIns="0" rIns="0" tIns="0" bIns="0">
            <a:spAutoFit/>
          </a:bodyPr>
          <a:lstStyle/>
          <a:p>
            <a:r>
              <a:rPr sz="1450" b="0" i="1">
                <a:solidFill>
                  <a:srgbClr val="5EEAD4"/>
                </a:solidFill>
                <a:latin typeface="Calibri"/>
              </a:rPr>
              <a:t>W(t, c) = tf(t, c) × log(1 + A / f(t)),  với A là số từ trung bình của một cụm</a:t>
            </a:r>
          </a:p>
        </p:txBody>
      </p:sp>
      <p:graphicFrame>
        <p:nvGraphicFramePr>
          <p:cNvPr id="7" name="Table 6"/>
          <p:cNvGraphicFramePr>
            <a:graphicFrameLocks noGrp="1"/>
          </p:cNvGraphicFramePr>
          <p:nvPr/>
        </p:nvGraphicFramePr>
        <p:xfrm>
          <a:off x="731520" y="2331720"/>
          <a:ext cx="8503920" cy="2002536"/>
        </p:xfrm>
        <a:graphic>
          <a:graphicData uri="http://schemas.openxmlformats.org/drawingml/2006/table">
            <a:tbl>
              <a:tblPr>
                <a:tableStyleId>{2D5ABB26-0587-4C30-8999-92F81FD0307C}</a:tableStyleId>
              </a:tblPr>
              <a:tblGrid>
                <a:gridCol w="1828800"/>
                <a:gridCol w="1097280"/>
                <a:gridCol w="1097280"/>
                <a:gridCol w="1097280"/>
                <a:gridCol w="1005840"/>
                <a:gridCol w="2377440"/>
              </a:tblGrid>
              <a:tr h="429768">
                <a:tc>
                  <a:txBody>
                    <a:bodyPr wrap="square"/>
                    <a:lstStyle/>
                    <a:p>
                      <a:pPr algn="l"/>
                      <a:r>
                        <a:rPr sz="1350" b="1" i="0">
                          <a:solidFill>
                            <a:srgbClr val="5EEAD4"/>
                          </a:solidFill>
                          <a:latin typeface="Calibri"/>
                        </a:rPr>
                        <a:t>Từ</a:t>
                      </a:r>
                    </a:p>
                  </a:txBody>
                  <a:tcPr anchor="ctr" marL="100584" marR="100584" marT="36576" marB="36576">
                    <a:solidFill>
                      <a:srgbClr val="12303A"/>
                    </a:solidFill>
                  </a:tcPr>
                </a:tc>
                <a:tc>
                  <a:txBody>
                    <a:bodyPr wrap="square"/>
                    <a:lstStyle/>
                    <a:p>
                      <a:pPr algn="r"/>
                      <a:r>
                        <a:rPr sz="1350" b="1" i="0">
                          <a:solidFill>
                            <a:srgbClr val="5EEAD4"/>
                          </a:solidFill>
                          <a:latin typeface="Calibri"/>
                        </a:rPr>
                        <a:t>Cụm 1</a:t>
                      </a:r>
                    </a:p>
                  </a:txBody>
                  <a:tcPr anchor="ctr" marL="100584" marR="100584" marT="36576" marB="36576">
                    <a:solidFill>
                      <a:srgbClr val="12303A"/>
                    </a:solidFill>
                  </a:tcPr>
                </a:tc>
                <a:tc>
                  <a:txBody>
                    <a:bodyPr wrap="square"/>
                    <a:lstStyle/>
                    <a:p>
                      <a:pPr algn="r"/>
                      <a:r>
                        <a:rPr sz="1350" b="1" i="0">
                          <a:solidFill>
                            <a:srgbClr val="5EEAD4"/>
                          </a:solidFill>
                          <a:latin typeface="Calibri"/>
                        </a:rPr>
                        <a:t>Cụm 2</a:t>
                      </a:r>
                    </a:p>
                  </a:txBody>
                  <a:tcPr anchor="ctr" marL="100584" marR="100584" marT="36576" marB="36576">
                    <a:solidFill>
                      <a:srgbClr val="12303A"/>
                    </a:solidFill>
                  </a:tcPr>
                </a:tc>
                <a:tc>
                  <a:txBody>
                    <a:bodyPr wrap="square"/>
                    <a:lstStyle/>
                    <a:p>
                      <a:pPr algn="r"/>
                      <a:r>
                        <a:rPr sz="1350" b="1" i="0">
                          <a:solidFill>
                            <a:srgbClr val="5EEAD4"/>
                          </a:solidFill>
                          <a:latin typeface="Calibri"/>
                        </a:rPr>
                        <a:t>Cụm 3</a:t>
                      </a:r>
                    </a:p>
                  </a:txBody>
                  <a:tcPr anchor="ctr" marL="100584" marR="100584" marT="36576" marB="36576">
                    <a:solidFill>
                      <a:srgbClr val="12303A"/>
                    </a:solidFill>
                  </a:tcPr>
                </a:tc>
                <a:tc>
                  <a:txBody>
                    <a:bodyPr wrap="square"/>
                    <a:lstStyle/>
                    <a:p>
                      <a:pPr algn="r"/>
                      <a:r>
                        <a:rPr sz="1350" b="1" i="0">
                          <a:solidFill>
                            <a:srgbClr val="5EEAD4"/>
                          </a:solidFill>
                          <a:latin typeface="Calibri"/>
                        </a:rPr>
                        <a:t>f(t)</a:t>
                      </a:r>
                    </a:p>
                  </a:txBody>
                  <a:tcPr anchor="ctr" marL="100584" marR="100584" marT="36576" marB="36576">
                    <a:solidFill>
                      <a:srgbClr val="12303A"/>
                    </a:solidFill>
                  </a:tcPr>
                </a:tc>
                <a:tc>
                  <a:txBody>
                    <a:bodyPr wrap="square"/>
                    <a:lstStyle/>
                    <a:p>
                      <a:pPr algn="r"/>
                      <a:r>
                        <a:rPr sz="1350" b="1" i="0">
                          <a:solidFill>
                            <a:srgbClr val="5EEAD4"/>
                          </a:solidFill>
                          <a:latin typeface="Calibri"/>
                        </a:rPr>
                        <a:t>log(1 + 10/f(t))</a:t>
                      </a:r>
                    </a:p>
                  </a:txBody>
                  <a:tcPr anchor="ctr" marL="100584" marR="100584" marT="36576" marB="36576">
                    <a:solidFill>
                      <a:srgbClr val="12303A"/>
                    </a:solidFill>
                  </a:tcPr>
                </a:tc>
              </a:tr>
              <a:tr h="393192">
                <a:tc>
                  <a:txBody>
                    <a:bodyPr wrap="square"/>
                    <a:lstStyle/>
                    <a:p>
                      <a:pPr algn="l"/>
                      <a:r>
                        <a:rPr sz="1350" b="0" i="0">
                          <a:solidFill>
                            <a:srgbClr val="C5D2E4"/>
                          </a:solidFill>
                          <a:latin typeface="Calibri"/>
                        </a:rPr>
                        <a:t>hát</a:t>
                      </a:r>
                    </a:p>
                  </a:txBody>
                  <a:tcPr anchor="ctr" marL="100584" marR="100584" marT="36576" marB="36576">
                    <a:solidFill>
                      <a:srgbClr val="0E1929"/>
                    </a:solidFill>
                  </a:tcPr>
                </a:tc>
                <a:tc>
                  <a:txBody>
                    <a:bodyPr wrap="square"/>
                    <a:lstStyle/>
                    <a:p>
                      <a:pPr algn="r"/>
                      <a:r>
                        <a:rPr sz="1350" b="0" i="0">
                          <a:solidFill>
                            <a:srgbClr val="C5D2E4"/>
                          </a:solidFill>
                          <a:latin typeface="Calibri"/>
                        </a:rPr>
                        <a:t>6</a:t>
                      </a:r>
                    </a:p>
                  </a:txBody>
                  <a:tcPr anchor="ctr" marL="100584" marR="100584" marT="36576" marB="36576">
                    <a:solidFill>
                      <a:srgbClr val="0E1929"/>
                    </a:solidFill>
                  </a:tcPr>
                </a:tc>
                <a:tc>
                  <a:txBody>
                    <a:bodyPr wrap="square"/>
                    <a:lstStyle/>
                    <a:p>
                      <a:pPr algn="r"/>
                      <a:r>
                        <a:rPr sz="1350" b="0" i="0">
                          <a:solidFill>
                            <a:srgbClr val="C5D2E4"/>
                          </a:solidFill>
                          <a:latin typeface="Calibri"/>
                        </a:rPr>
                        <a:t>0</a:t>
                      </a:r>
                    </a:p>
                  </a:txBody>
                  <a:tcPr anchor="ctr" marL="100584" marR="100584" marT="36576" marB="36576">
                    <a:solidFill>
                      <a:srgbClr val="0E1929"/>
                    </a:solidFill>
                  </a:tcPr>
                </a:tc>
                <a:tc>
                  <a:txBody>
                    <a:bodyPr wrap="square"/>
                    <a:lstStyle/>
                    <a:p>
                      <a:pPr algn="r"/>
                      <a:r>
                        <a:rPr sz="1350" b="0" i="0">
                          <a:solidFill>
                            <a:srgbClr val="C5D2E4"/>
                          </a:solidFill>
                          <a:latin typeface="Calibri"/>
                        </a:rPr>
                        <a:t>0</a:t>
                      </a:r>
                    </a:p>
                  </a:txBody>
                  <a:tcPr anchor="ctr" marL="100584" marR="100584" marT="36576" marB="36576">
                    <a:solidFill>
                      <a:srgbClr val="0E1929"/>
                    </a:solidFill>
                  </a:tcPr>
                </a:tc>
                <a:tc>
                  <a:txBody>
                    <a:bodyPr wrap="square"/>
                    <a:lstStyle/>
                    <a:p>
                      <a:pPr algn="r"/>
                      <a:r>
                        <a:rPr sz="1350" b="0" i="0">
                          <a:solidFill>
                            <a:srgbClr val="C5D2E4"/>
                          </a:solidFill>
                          <a:latin typeface="Calibri"/>
                        </a:rPr>
                        <a:t>6</a:t>
                      </a:r>
                    </a:p>
                  </a:txBody>
                  <a:tcPr anchor="ctr" marL="100584" marR="100584" marT="36576" marB="36576">
                    <a:solidFill>
                      <a:srgbClr val="0E1929"/>
                    </a:solidFill>
                  </a:tcPr>
                </a:tc>
                <a:tc>
                  <a:txBody>
                    <a:bodyPr wrap="square"/>
                    <a:lstStyle/>
                    <a:p>
                      <a:pPr algn="r"/>
                      <a:r>
                        <a:rPr sz="1350" b="0" i="0">
                          <a:solidFill>
                            <a:srgbClr val="C5D2E4"/>
                          </a:solidFill>
                          <a:latin typeface="Calibri"/>
                        </a:rPr>
                        <a:t>log(2,667) = 0,981</a:t>
                      </a:r>
                    </a:p>
                  </a:txBody>
                  <a:tcPr anchor="ctr" marL="100584" marR="100584" marT="36576" marB="36576">
                    <a:solidFill>
                      <a:srgbClr val="0E1929"/>
                    </a:solidFill>
                  </a:tcPr>
                </a:tc>
              </a:tr>
              <a:tr h="393192">
                <a:tc>
                  <a:txBody>
                    <a:bodyPr wrap="square"/>
                    <a:lstStyle/>
                    <a:p>
                      <a:pPr algn="l"/>
                      <a:r>
                        <a:rPr sz="1350" b="0" i="0">
                          <a:solidFill>
                            <a:srgbClr val="C5D2E4"/>
                          </a:solidFill>
                          <a:latin typeface="Calibri"/>
                        </a:rPr>
                        <a:t>hạng</a:t>
                      </a:r>
                    </a:p>
                  </a:txBody>
                  <a:tcPr anchor="ctr" marL="100584" marR="100584" marT="36576" marB="36576">
                    <a:solidFill>
                      <a:srgbClr val="121E30"/>
                    </a:solidFill>
                  </a:tcPr>
                </a:tc>
                <a:tc>
                  <a:txBody>
                    <a:bodyPr wrap="square"/>
                    <a:lstStyle/>
                    <a:p>
                      <a:pPr algn="r"/>
                      <a:r>
                        <a:rPr sz="1350" b="0" i="0">
                          <a:solidFill>
                            <a:srgbClr val="C5D2E4"/>
                          </a:solidFill>
                          <a:latin typeface="Calibri"/>
                        </a:rPr>
                        <a:t>0</a:t>
                      </a:r>
                    </a:p>
                  </a:txBody>
                  <a:tcPr anchor="ctr" marL="100584" marR="100584" marT="36576" marB="36576">
                    <a:solidFill>
                      <a:srgbClr val="121E30"/>
                    </a:solidFill>
                  </a:tcPr>
                </a:tc>
                <a:tc>
                  <a:txBody>
                    <a:bodyPr wrap="square"/>
                    <a:lstStyle/>
                    <a:p>
                      <a:pPr algn="r"/>
                      <a:r>
                        <a:rPr sz="1350" b="0" i="0">
                          <a:solidFill>
                            <a:srgbClr val="C5D2E4"/>
                          </a:solidFill>
                          <a:latin typeface="Calibri"/>
                        </a:rPr>
                        <a:t>6</a:t>
                      </a:r>
                    </a:p>
                  </a:txBody>
                  <a:tcPr anchor="ctr" marL="100584" marR="100584" marT="36576" marB="36576">
                    <a:solidFill>
                      <a:srgbClr val="121E30"/>
                    </a:solidFill>
                  </a:tcPr>
                </a:tc>
                <a:tc>
                  <a:txBody>
                    <a:bodyPr wrap="square"/>
                    <a:lstStyle/>
                    <a:p>
                      <a:pPr algn="r"/>
                      <a:r>
                        <a:rPr sz="1350" b="0" i="0">
                          <a:solidFill>
                            <a:srgbClr val="C5D2E4"/>
                          </a:solidFill>
                          <a:latin typeface="Calibri"/>
                        </a:rPr>
                        <a:t>0</a:t>
                      </a:r>
                    </a:p>
                  </a:txBody>
                  <a:tcPr anchor="ctr" marL="100584" marR="100584" marT="36576" marB="36576">
                    <a:solidFill>
                      <a:srgbClr val="121E30"/>
                    </a:solidFill>
                  </a:tcPr>
                </a:tc>
                <a:tc>
                  <a:txBody>
                    <a:bodyPr wrap="square"/>
                    <a:lstStyle/>
                    <a:p>
                      <a:pPr algn="r"/>
                      <a:r>
                        <a:rPr sz="1350" b="0" i="0">
                          <a:solidFill>
                            <a:srgbClr val="C5D2E4"/>
                          </a:solidFill>
                          <a:latin typeface="Calibri"/>
                        </a:rPr>
                        <a:t>6</a:t>
                      </a:r>
                    </a:p>
                  </a:txBody>
                  <a:tcPr anchor="ctr" marL="100584" marR="100584" marT="36576" marB="36576">
                    <a:solidFill>
                      <a:srgbClr val="121E30"/>
                    </a:solidFill>
                  </a:tcPr>
                </a:tc>
                <a:tc>
                  <a:txBody>
                    <a:bodyPr wrap="square"/>
                    <a:lstStyle/>
                    <a:p>
                      <a:pPr algn="r"/>
                      <a:r>
                        <a:rPr sz="1350" b="0" i="0">
                          <a:solidFill>
                            <a:srgbClr val="C5D2E4"/>
                          </a:solidFill>
                          <a:latin typeface="Calibri"/>
                        </a:rPr>
                        <a:t>0,981</a:t>
                      </a:r>
                    </a:p>
                  </a:txBody>
                  <a:tcPr anchor="ctr" marL="100584" marR="100584" marT="36576" marB="36576">
                    <a:solidFill>
                      <a:srgbClr val="121E30"/>
                    </a:solidFill>
                  </a:tcPr>
                </a:tc>
              </a:tr>
              <a:tr h="393192">
                <a:tc>
                  <a:txBody>
                    <a:bodyPr wrap="square"/>
                    <a:lstStyle/>
                    <a:p>
                      <a:pPr algn="l"/>
                      <a:r>
                        <a:rPr sz="1350" b="0" i="0">
                          <a:solidFill>
                            <a:srgbClr val="C5D2E4"/>
                          </a:solidFill>
                          <a:latin typeface="Calibri"/>
                        </a:rPr>
                        <a:t>quảng_cáo</a:t>
                      </a:r>
                    </a:p>
                  </a:txBody>
                  <a:tcPr anchor="ctr" marL="100584" marR="100584" marT="36576" marB="36576">
                    <a:solidFill>
                      <a:srgbClr val="0E1929"/>
                    </a:solidFill>
                  </a:tcPr>
                </a:tc>
                <a:tc>
                  <a:txBody>
                    <a:bodyPr wrap="square"/>
                    <a:lstStyle/>
                    <a:p>
                      <a:pPr algn="r"/>
                      <a:r>
                        <a:rPr sz="1350" b="0" i="0">
                          <a:solidFill>
                            <a:srgbClr val="C5D2E4"/>
                          </a:solidFill>
                          <a:latin typeface="Calibri"/>
                        </a:rPr>
                        <a:t>1</a:t>
                      </a:r>
                    </a:p>
                  </a:txBody>
                  <a:tcPr anchor="ctr" marL="100584" marR="100584" marT="36576" marB="36576">
                    <a:solidFill>
                      <a:srgbClr val="0E1929"/>
                    </a:solidFill>
                  </a:tcPr>
                </a:tc>
                <a:tc>
                  <a:txBody>
                    <a:bodyPr wrap="square"/>
                    <a:lstStyle/>
                    <a:p>
                      <a:pPr algn="r"/>
                      <a:r>
                        <a:rPr sz="1350" b="0" i="0">
                          <a:solidFill>
                            <a:srgbClr val="C5D2E4"/>
                          </a:solidFill>
                          <a:latin typeface="Calibri"/>
                        </a:rPr>
                        <a:t>1</a:t>
                      </a:r>
                    </a:p>
                  </a:txBody>
                  <a:tcPr anchor="ctr" marL="100584" marR="100584" marT="36576" marB="36576">
                    <a:solidFill>
                      <a:srgbClr val="0E1929"/>
                    </a:solidFill>
                  </a:tcPr>
                </a:tc>
                <a:tc>
                  <a:txBody>
                    <a:bodyPr wrap="square"/>
                    <a:lstStyle/>
                    <a:p>
                      <a:pPr algn="r"/>
                      <a:r>
                        <a:rPr sz="1350" b="0" i="0">
                          <a:solidFill>
                            <a:srgbClr val="C5D2E4"/>
                          </a:solidFill>
                          <a:latin typeface="Calibri"/>
                        </a:rPr>
                        <a:t>6</a:t>
                      </a:r>
                    </a:p>
                  </a:txBody>
                  <a:tcPr anchor="ctr" marL="100584" marR="100584" marT="36576" marB="36576">
                    <a:solidFill>
                      <a:srgbClr val="0E1929"/>
                    </a:solidFill>
                  </a:tcPr>
                </a:tc>
                <a:tc>
                  <a:txBody>
                    <a:bodyPr wrap="square"/>
                    <a:lstStyle/>
                    <a:p>
                      <a:pPr algn="r"/>
                      <a:r>
                        <a:rPr sz="1350" b="0" i="0">
                          <a:solidFill>
                            <a:srgbClr val="C5D2E4"/>
                          </a:solidFill>
                          <a:latin typeface="Calibri"/>
                        </a:rPr>
                        <a:t>8</a:t>
                      </a:r>
                    </a:p>
                  </a:txBody>
                  <a:tcPr anchor="ctr" marL="100584" marR="100584" marT="36576" marB="36576">
                    <a:solidFill>
                      <a:srgbClr val="0E1929"/>
                    </a:solidFill>
                  </a:tcPr>
                </a:tc>
                <a:tc>
                  <a:txBody>
                    <a:bodyPr wrap="square"/>
                    <a:lstStyle/>
                    <a:p>
                      <a:pPr algn="r"/>
                      <a:r>
                        <a:rPr sz="1350" b="0" i="0">
                          <a:solidFill>
                            <a:srgbClr val="C5D2E4"/>
                          </a:solidFill>
                          <a:latin typeface="Calibri"/>
                        </a:rPr>
                        <a:t>log(2,25) = 0,811</a:t>
                      </a:r>
                    </a:p>
                  </a:txBody>
                  <a:tcPr anchor="ctr" marL="100584" marR="100584" marT="36576" marB="36576">
                    <a:solidFill>
                      <a:srgbClr val="0E1929"/>
                    </a:solidFill>
                  </a:tcPr>
                </a:tc>
              </a:tr>
              <a:tr h="393192">
                <a:tc>
                  <a:txBody>
                    <a:bodyPr wrap="square"/>
                    <a:lstStyle/>
                    <a:p>
                      <a:pPr algn="l"/>
                      <a:r>
                        <a:rPr sz="1350" b="1" i="0">
                          <a:solidFill>
                            <a:srgbClr val="F2F6FB"/>
                          </a:solidFill>
                          <a:latin typeface="Calibri"/>
                        </a:rPr>
                        <a:t>hay</a:t>
                      </a:r>
                    </a:p>
                  </a:txBody>
                  <a:tcPr anchor="ctr" marL="100584" marR="100584" marT="36576" marB="36576">
                    <a:solidFill>
                      <a:srgbClr val="12303A"/>
                    </a:solidFill>
                  </a:tcPr>
                </a:tc>
                <a:tc>
                  <a:txBody>
                    <a:bodyPr wrap="square"/>
                    <a:lstStyle/>
                    <a:p>
                      <a:pPr algn="r"/>
                      <a:r>
                        <a:rPr sz="1350" b="1" i="0">
                          <a:solidFill>
                            <a:srgbClr val="F2F6FB"/>
                          </a:solidFill>
                          <a:latin typeface="Calibri"/>
                        </a:rPr>
                        <a:t>3</a:t>
                      </a:r>
                    </a:p>
                  </a:txBody>
                  <a:tcPr anchor="ctr" marL="100584" marR="100584" marT="36576" marB="36576">
                    <a:solidFill>
                      <a:srgbClr val="12303A"/>
                    </a:solidFill>
                  </a:tcPr>
                </a:tc>
                <a:tc>
                  <a:txBody>
                    <a:bodyPr wrap="square"/>
                    <a:lstStyle/>
                    <a:p>
                      <a:pPr algn="r"/>
                      <a:r>
                        <a:rPr sz="1350" b="1" i="0">
                          <a:solidFill>
                            <a:srgbClr val="F2F6FB"/>
                          </a:solidFill>
                          <a:latin typeface="Calibri"/>
                        </a:rPr>
                        <a:t>3</a:t>
                      </a:r>
                    </a:p>
                  </a:txBody>
                  <a:tcPr anchor="ctr" marL="100584" marR="100584" marT="36576" marB="36576">
                    <a:solidFill>
                      <a:srgbClr val="12303A"/>
                    </a:solidFill>
                  </a:tcPr>
                </a:tc>
                <a:tc>
                  <a:txBody>
                    <a:bodyPr wrap="square"/>
                    <a:lstStyle/>
                    <a:p>
                      <a:pPr algn="r"/>
                      <a:r>
                        <a:rPr sz="1350" b="1" i="0">
                          <a:solidFill>
                            <a:srgbClr val="F2F6FB"/>
                          </a:solidFill>
                          <a:latin typeface="Calibri"/>
                        </a:rPr>
                        <a:t>4</a:t>
                      </a:r>
                    </a:p>
                  </a:txBody>
                  <a:tcPr anchor="ctr" marL="100584" marR="100584" marT="36576" marB="36576">
                    <a:solidFill>
                      <a:srgbClr val="12303A"/>
                    </a:solidFill>
                  </a:tcPr>
                </a:tc>
                <a:tc>
                  <a:txBody>
                    <a:bodyPr wrap="square"/>
                    <a:lstStyle/>
                    <a:p>
                      <a:pPr algn="r"/>
                      <a:r>
                        <a:rPr sz="1350" b="1" i="0">
                          <a:solidFill>
                            <a:srgbClr val="F2F6FB"/>
                          </a:solidFill>
                          <a:latin typeface="Calibri"/>
                        </a:rPr>
                        <a:t>10</a:t>
                      </a:r>
                    </a:p>
                  </a:txBody>
                  <a:tcPr anchor="ctr" marL="100584" marR="100584" marT="36576" marB="36576">
                    <a:solidFill>
                      <a:srgbClr val="12303A"/>
                    </a:solidFill>
                  </a:tcPr>
                </a:tc>
                <a:tc>
                  <a:txBody>
                    <a:bodyPr wrap="square"/>
                    <a:lstStyle/>
                    <a:p>
                      <a:pPr algn="r"/>
                      <a:r>
                        <a:rPr sz="1350" b="1" i="0">
                          <a:solidFill>
                            <a:srgbClr val="F2F6FB"/>
                          </a:solidFill>
                          <a:latin typeface="Calibri"/>
                        </a:rPr>
                        <a:t>log(2) = 0,693</a:t>
                      </a:r>
                    </a:p>
                  </a:txBody>
                  <a:tcPr anchor="ctr" marL="100584" marR="100584" marT="36576" marB="36576">
                    <a:solidFill>
                      <a:srgbClr val="12303A"/>
                    </a:solidFill>
                  </a:tcPr>
                </a:tc>
              </a:tr>
            </a:tbl>
          </a:graphicData>
        </a:graphic>
      </p:graphicFrame>
      <p:sp>
        <p:nvSpPr>
          <p:cNvPr id="8" name="TextBox 7"/>
          <p:cNvSpPr txBox="1"/>
          <p:nvPr/>
        </p:nvSpPr>
        <p:spPr>
          <a:xfrm>
            <a:off x="731520" y="4590288"/>
            <a:ext cx="10728655" cy="1627632"/>
          </a:xfrm>
          <a:prstGeom prst="rect">
            <a:avLst/>
          </a:prstGeom>
          <a:noFill/>
        </p:spPr>
        <p:txBody>
          <a:bodyPr wrap="square" lIns="0" rIns="0" tIns="0" bIns="0">
            <a:spAutoFit/>
          </a:bodyPr>
          <a:lstStyle/>
          <a:p>
            <a:pPr marL="219456" indent="-219456">
              <a:lnSpc>
                <a:spcPct val="118000"/>
              </a:lnSpc>
              <a:spcAft>
                <a:spcPts val="1300"/>
              </a:spcAft>
              <a:buClr>
                <a:srgbClr val="2DD4BF"/>
              </a:buClr>
              <a:buFont typeface="Arial"/>
              <a:buChar char="•"/>
            </a:pPr>
            <a:r>
              <a:rPr sz="1500" b="0" i="0">
                <a:solidFill>
                  <a:srgbClr val="C5D2E4"/>
                </a:solidFill>
                <a:latin typeface="Calibri"/>
              </a:rPr>
              <a:t>Ba cụm, mỗi cụm 10 từ, nên A = 10; logarit tự nhiên</a:t>
            </a:r>
          </a:p>
          <a:p>
            <a:pPr marL="219456" indent="-219456">
              <a:lnSpc>
                <a:spcPct val="118000"/>
              </a:lnSpc>
              <a:spcAft>
                <a:spcPts val="1300"/>
              </a:spcAft>
              <a:buClr>
                <a:srgbClr val="2DD4BF"/>
              </a:buClr>
              <a:buFont typeface="Arial"/>
              <a:buChar char="•"/>
            </a:pPr>
            <a:r>
              <a:rPr sz="1500" b="0" i="0">
                <a:solidFill>
                  <a:srgbClr val="C5D2E4"/>
                </a:solidFill>
                <a:latin typeface="Calibri"/>
              </a:rPr>
              <a:t>Cụm 1: hát 6 × 0,981 = 5,88; hay 3 × 0,693 = 2,08; quảng_cáo 0,81. Cụm 3: quảng_cáo 4,87; hay 2,77</a:t>
            </a:r>
          </a:p>
          <a:p>
            <a:pPr marL="219456" indent="-219456">
              <a:lnSpc>
                <a:spcPct val="118000"/>
              </a:lnSpc>
              <a:spcAft>
                <a:spcPts val="1300"/>
              </a:spcAft>
              <a:buClr>
                <a:srgbClr val="2DD4BF"/>
              </a:buClr>
              <a:buFont typeface="Arial"/>
              <a:buChar char="•"/>
            </a:pPr>
            <a:r>
              <a:rPr sz="1500" b="0" i="0">
                <a:solidFill>
                  <a:srgbClr val="C5D2E4"/>
                </a:solidFill>
                <a:latin typeface="Calibri"/>
              </a:rPr>
              <a:t>hay có mặt ở cả ba cụm nên thành phần logarit thấp nhất, luôn đứng sau từ đặc trưng riêng. Hư từ như là, của, mà có tần suất thô quá cao nên vẫn cần danh sách từ dừng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731520" y="329184"/>
            <a:ext cx="10728655" cy="237744"/>
          </a:xfrm>
          <a:prstGeom prst="rect">
            <a:avLst/>
          </a:prstGeom>
          <a:noFill/>
        </p:spPr>
        <p:txBody>
          <a:bodyPr wrap="square" lIns="0" rIns="0" tIns="0" bIns="0">
            <a:spAutoFit/>
          </a:bodyPr>
          <a:lstStyle/>
          <a:p>
            <a:r>
              <a:rPr sz="1050" b="1" i="0" spc="120">
                <a:solidFill>
                  <a:srgbClr val="2DD4BF"/>
                </a:solidFill>
                <a:latin typeface="Calibri"/>
              </a:rPr>
              <a:t>PHỤ LỤC B3</a:t>
            </a:r>
          </a:p>
        </p:txBody>
      </p:sp>
      <p:sp>
        <p:nvSpPr>
          <p:cNvPr id="3" name="TextBox 2"/>
          <p:cNvSpPr txBox="1"/>
          <p:nvPr/>
        </p:nvSpPr>
        <p:spPr>
          <a:xfrm>
            <a:off x="731520" y="603504"/>
            <a:ext cx="10728655" cy="868680"/>
          </a:xfrm>
          <a:prstGeom prst="rect">
            <a:avLst/>
          </a:prstGeom>
          <a:noFill/>
        </p:spPr>
        <p:txBody>
          <a:bodyPr wrap="square" lIns="0" rIns="0" tIns="0" bIns="0">
            <a:spAutoFit/>
          </a:bodyPr>
          <a:lstStyle/>
          <a:p>
            <a:pPr>
              <a:lnSpc>
                <a:spcPct val="95000"/>
              </a:lnSpc>
            </a:pPr>
            <a:r>
              <a:rPr sz="2800" b="1" i="0">
                <a:solidFill>
                  <a:srgbClr val="F2F6FB"/>
                </a:solidFill>
                <a:latin typeface="Calibri Light"/>
              </a:rPr>
              <a:t>Bẫy BERTopic với tiếng Việt và cách tái lập kết quả</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45775" y="6291072"/>
            <a:ext cx="914400" cy="274320"/>
          </a:xfrm>
          <a:prstGeom prst="rect">
            <a:avLst/>
          </a:prstGeom>
          <a:noFill/>
        </p:spPr>
        <p:txBody>
          <a:bodyPr wrap="square" lIns="0" rIns="0" tIns="0" bIns="0">
            <a:spAutoFit/>
          </a:bodyPr>
          <a:lstStyle/>
          <a:p>
            <a:pPr algn="r"/>
            <a:r>
              <a:rPr sz="1100" b="0" i="0">
                <a:solidFill>
                  <a:srgbClr val="55688A"/>
                </a:solidFill>
                <a:latin typeface="Calibri"/>
              </a:rPr>
              <a:t>18</a:t>
            </a:r>
          </a:p>
        </p:txBody>
      </p:sp>
      <p:sp>
        <p:nvSpPr>
          <p:cNvPr id="6" name="TextBox 5"/>
          <p:cNvSpPr txBox="1"/>
          <p:nvPr/>
        </p:nvSpPr>
        <p:spPr>
          <a:xfrm>
            <a:off x="731520" y="1810512"/>
            <a:ext cx="10728655" cy="4407407"/>
          </a:xfrm>
          <a:prstGeom prst="rect">
            <a:avLst/>
          </a:prstGeom>
          <a:noFill/>
        </p:spPr>
        <p:txBody>
          <a:bodyPr wrap="square" lIns="0" rIns="0" tIns="0" bIns="0">
            <a:spAutoFit/>
          </a:bodyPr>
          <a:lstStyle/>
          <a:p>
            <a:pPr marL="219456" indent="-219456">
              <a:lnSpc>
                <a:spcPct val="118000"/>
              </a:lnSpc>
              <a:spcAft>
                <a:spcPts val="2000"/>
              </a:spcAft>
              <a:buClr>
                <a:srgbClr val="2DD4BF"/>
              </a:buClr>
              <a:buFont typeface="Arial"/>
              <a:buChar char="•"/>
            </a:pPr>
            <a:r>
              <a:rPr sz="1650" b="0" i="0">
                <a:solidFill>
                  <a:srgbClr val="C5D2E4"/>
                </a:solidFill>
                <a:latin typeface="Calibri"/>
              </a:rPr>
              <a:t>BERTopic() mặc định language="english"; nếu không truyền embedding_model, bước làm sạch nội bộ xóa mọi ký tự ngoài [A-Za-z0-9 ] trước c-TF-IDF: </a:t>
            </a:r>
            <a:r>
              <a:rPr sz="1650" b="0" i="1">
                <a:solidFill>
                  <a:srgbClr val="FB7185"/>
                </a:solidFill>
                <a:latin typeface="Calibri"/>
              </a:rPr>
              <a:t>không</a:t>
            </a:r>
            <a:r>
              <a:rPr sz="1650" b="0" i="0">
                <a:solidFill>
                  <a:srgbClr val="C5D2E4"/>
                </a:solidFill>
                <a:latin typeface="Calibri"/>
              </a:rPr>
              <a:t> thành </a:t>
            </a:r>
            <a:r>
              <a:rPr sz="1650" b="0" i="1">
                <a:solidFill>
                  <a:srgbClr val="FB7185"/>
                </a:solidFill>
                <a:latin typeface="Calibri"/>
              </a:rPr>
              <a:t>khng</a:t>
            </a:r>
            <a:r>
              <a:rPr sz="1650" b="0" i="0">
                <a:solidFill>
                  <a:srgbClr val="C5D2E4"/>
                </a:solidFill>
                <a:latin typeface="Calibri"/>
              </a:rPr>
              <a:t>, </a:t>
            </a:r>
            <a:r>
              <a:rPr sz="1650" b="0" i="1">
                <a:solidFill>
                  <a:srgbClr val="FB7185"/>
                </a:solidFill>
                <a:latin typeface="Calibri"/>
              </a:rPr>
              <a:t>chương_trình</a:t>
            </a:r>
            <a:r>
              <a:rPr sz="1650" b="0" i="0">
                <a:solidFill>
                  <a:srgbClr val="C5D2E4"/>
                </a:solidFill>
                <a:latin typeface="Calibri"/>
              </a:rPr>
              <a:t> thành </a:t>
            </a:r>
            <a:r>
              <a:rPr sz="1650" b="0" i="1">
                <a:solidFill>
                  <a:srgbClr val="FB7185"/>
                </a:solidFill>
                <a:latin typeface="Calibri"/>
              </a:rPr>
              <a:t>chngtrnh</a:t>
            </a:r>
          </a:p>
          <a:p>
            <a:pPr marL="219456" indent="-219456">
              <a:lnSpc>
                <a:spcPct val="118000"/>
              </a:lnSpc>
              <a:spcAft>
                <a:spcPts val="2000"/>
              </a:spcAft>
              <a:buClr>
                <a:srgbClr val="2DD4BF"/>
              </a:buClr>
              <a:buFont typeface="Arial"/>
              <a:buChar char="•"/>
            </a:pPr>
            <a:r>
              <a:rPr sz="1650" b="0" i="0">
                <a:solidFill>
                  <a:srgbClr val="C5D2E4"/>
                </a:solidFill>
                <a:latin typeface="Calibri"/>
              </a:rPr>
              <a:t>Pipeline của nhóm luôn truyền mô hình nhúng vào BERTopic, kể cả khi vector đã tính sẵn; một kiểm thử xác nhận language của mô hình là None</a:t>
            </a:r>
          </a:p>
          <a:p>
            <a:pPr marL="219456" indent="-219456">
              <a:lnSpc>
                <a:spcPct val="118000"/>
              </a:lnSpc>
              <a:spcAft>
                <a:spcPts val="2000"/>
              </a:spcAft>
              <a:buClr>
                <a:srgbClr val="2DD4BF"/>
              </a:buClr>
              <a:buFont typeface="Arial"/>
              <a:buChar char="•"/>
            </a:pPr>
            <a:r>
              <a:rPr sz="1650" b="0" i="0">
                <a:solidFill>
                  <a:srgbClr val="C5D2E4"/>
                </a:solidFill>
                <a:latin typeface="Calibri"/>
              </a:rPr>
              <a:t>Tái lập: python src/train_sentiment.py (khoảng 12 giây, sinh lại results/ và models/); python experiments/dataset_stats.py, ab_preprocess.py, topic_ablation.py cho ba bảng thực nghiệm; pytest chạy 146 kiểm thử trong khoảng 16 giây</a:t>
            </a:r>
          </a:p>
          <a:p>
            <a:pPr marL="219456" indent="-219456">
              <a:lnSpc>
                <a:spcPct val="118000"/>
              </a:lnSpc>
              <a:spcAft>
                <a:spcPts val="2000"/>
              </a:spcAft>
              <a:buClr>
                <a:srgbClr val="2DD4BF"/>
              </a:buClr>
              <a:buFont typeface="Arial"/>
              <a:buChar char="•"/>
            </a:pPr>
            <a:r>
              <a:rPr sz="1650" b="0" i="0">
                <a:solidFill>
                  <a:srgbClr val="C5D2E4"/>
                </a:solidFill>
                <a:latin typeface="Calibri"/>
              </a:rPr>
              <a:t>Lệnh gom cụm dòng lệnh trên 1.500 dòng đầu cho 1.493 bình luận hợp lệ, 26 chủ đề, 33,3% nhiễu; UMAP có hạt giống cố định nên cùng máy cho cùng kết quả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